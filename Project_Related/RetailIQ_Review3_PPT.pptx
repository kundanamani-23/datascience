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2" r:id="rId3"/>
    <p:sldId id="707" r:id="rId4"/>
    <p:sldId id="904" r:id="rId5"/>
    <p:sldId id="270" r:id="rId6"/>
    <p:sldId id="263" r:id="rId7"/>
    <p:sldId id="272" r:id="rId8"/>
    <p:sldId id="915" r:id="rId9"/>
    <p:sldId id="907" r:id="rId10"/>
    <p:sldId id="908" r:id="rId11"/>
    <p:sldId id="261" r:id="rId12"/>
    <p:sldId id="905" r:id="rId13"/>
    <p:sldId id="906" r:id="rId14"/>
    <p:sldId id="264" r:id="rId15"/>
    <p:sldId id="909" r:id="rId16"/>
    <p:sldId id="910" r:id="rId17"/>
    <p:sldId id="913" r:id="rId18"/>
    <p:sldId id="912" r:id="rId19"/>
    <p:sldId id="914" r:id="rId20"/>
    <p:sldId id="911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E6"/>
    <a:srgbClr val="21575B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28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28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28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28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28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28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28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28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28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28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28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28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455749" y="1599119"/>
            <a:ext cx="7280501" cy="707886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2000" dirty="0">
              <a:solidFill>
                <a:srgbClr val="2157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solidFill>
                  <a:srgbClr val="2157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E-Commerce Customer and Sales Analytics Platform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655020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21575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7: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B. Kundana Mani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2420030558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M. Sai Kridhay Kumar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2420030211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21575B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64743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21575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21575B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21575B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21575B"/>
                </a:solidFill>
              </a:endParaRPr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11 September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Data Science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2157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93212" y="703952"/>
            <a:ext cx="10715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6000" dirty="0" err="1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RetailIQ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8F0E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54040" y="2909937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DEFE2-C3D6-4078-AAA0-841954C9B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0" y="-51945"/>
            <a:ext cx="1444670" cy="7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21575B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703784" y="1368625"/>
            <a:ext cx="6784432" cy="4438977"/>
            <a:chOff x="1929643" y="1656655"/>
            <a:chExt cx="6784432" cy="4438977"/>
          </a:xfrm>
          <a:solidFill>
            <a:srgbClr val="21575B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grpFill/>
            <a:ln w="19050" cap="flat" cmpd="sng" algn="ctr">
              <a:solidFill>
                <a:srgbClr val="F8F0E6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grpFill/>
            <a:ln w="19050" cap="flat" cmpd="sng" algn="ctr">
              <a:solidFill>
                <a:srgbClr val="F8F0E6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8A5F75-C836-9F1E-1DB7-4323DC1758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0" y="-51945"/>
            <a:ext cx="1444670" cy="7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90799" y="-1787384"/>
            <a:ext cx="8437755" cy="4405261"/>
            <a:chOff x="0" y="0"/>
            <a:chExt cx="3333434" cy="1740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3434" cy="1740350"/>
            </a:xfrm>
            <a:custGeom>
              <a:avLst/>
              <a:gdLst/>
              <a:ahLst/>
              <a:cxnLst/>
              <a:rect l="l" t="t" r="r" b="b"/>
              <a:pathLst>
                <a:path w="3333434" h="1740350">
                  <a:moveTo>
                    <a:pt x="31196" y="0"/>
                  </a:moveTo>
                  <a:lnTo>
                    <a:pt x="3302238" y="0"/>
                  </a:lnTo>
                  <a:cubicBezTo>
                    <a:pt x="3319467" y="0"/>
                    <a:pt x="3333434" y="13967"/>
                    <a:pt x="3333434" y="31196"/>
                  </a:cubicBezTo>
                  <a:lnTo>
                    <a:pt x="3333434" y="1709154"/>
                  </a:lnTo>
                  <a:cubicBezTo>
                    <a:pt x="3333434" y="1726383"/>
                    <a:pt x="3319467" y="1740350"/>
                    <a:pt x="3302238" y="1740350"/>
                  </a:cubicBezTo>
                  <a:lnTo>
                    <a:pt x="31196" y="1740350"/>
                  </a:lnTo>
                  <a:cubicBezTo>
                    <a:pt x="13967" y="1740350"/>
                    <a:pt x="0" y="1726383"/>
                    <a:pt x="0" y="1709154"/>
                  </a:cubicBezTo>
                  <a:lnTo>
                    <a:pt x="0" y="31196"/>
                  </a:lnTo>
                  <a:cubicBezTo>
                    <a:pt x="0" y="13967"/>
                    <a:pt x="13967" y="0"/>
                    <a:pt x="31196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33434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7" name="Freeform 7"/>
          <p:cNvSpPr/>
          <p:nvPr/>
        </p:nvSpPr>
        <p:spPr>
          <a:xfrm>
            <a:off x="4034092" y="3610636"/>
            <a:ext cx="3183038" cy="27432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7" y="0"/>
                </a:lnTo>
                <a:lnTo>
                  <a:pt x="4774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3200" y="1270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69451" y="944756"/>
            <a:ext cx="4480449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90799" y="2790122"/>
            <a:ext cx="8178802" cy="3645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 err="1">
                <a:latin typeface="Nunito" panose="020B0604020202020204" charset="0"/>
                <a:cs typeface="Times New Roman" panose="02020603050405020304" pitchFamily="18" charset="0"/>
              </a:rPr>
              <a:t>RetailIQ</a:t>
            </a: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 is a full-cycle e-commerce analytics project focused on understanding customer behaviour and overall sales performance using retail transaction data.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Analyses customer, product, sales and revenue data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Uses Exploratory Data Analysis (EDA) to identify patterns and trends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Applies statistical analysis and visualization techniques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Provides an interactive dashboard for business monitoring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Converts raw transaction data into meaningful business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E4A9B-1A81-C68E-46C6-31FEED138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3" y="-45245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D2C5A33-08A0-81E2-3B4D-76D4FA5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3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0518-6BDF-7EA6-E431-5F10AB47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B46002-ABA7-DA70-D4BA-A0C3DC8C85B7}"/>
              </a:ext>
            </a:extLst>
          </p:cNvPr>
          <p:cNvGrpSpPr/>
          <p:nvPr/>
        </p:nvGrpSpPr>
        <p:grpSpPr>
          <a:xfrm>
            <a:off x="0" y="1740188"/>
            <a:ext cx="12192000" cy="4381212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93A0FB-5A0A-2AA4-2579-D6FBF5EB6A66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73F9F33-62E6-4419-0B0D-F7ADB451DFE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AC0B688-BFB1-DC8B-FCD6-23F00A9DB761}"/>
              </a:ext>
            </a:extLst>
          </p:cNvPr>
          <p:cNvSpPr txBox="1"/>
          <p:nvPr/>
        </p:nvSpPr>
        <p:spPr>
          <a:xfrm>
            <a:off x="3297716" y="501487"/>
            <a:ext cx="6259286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PROBLEM STATEMENT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BE61EFA-DAA1-816C-5404-C03C159E9EF0}"/>
              </a:ext>
            </a:extLst>
          </p:cNvPr>
          <p:cNvSpPr txBox="1"/>
          <p:nvPr/>
        </p:nvSpPr>
        <p:spPr>
          <a:xfrm>
            <a:off x="1014128" y="1829791"/>
            <a:ext cx="10038387" cy="38782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E-commerce businesses generate large volumes of transaction data, but raw data is difficult to interpret and use for decision-making.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Customer purchasing patterns are difficult to identify.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Product and category performance is not easily compared.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Sales and revenue trends can be hidden within large datasets.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Identifying valuable customer segments requires detailed analysis.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Manual analysis of transaction data is time-consuming.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Businesses need a centralized view of important performance metrics.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C873D-934F-4EFE-59D9-B2D34397D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C2B1BA4-C787-1C75-A46D-CC0384D8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4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555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3" y="974823"/>
            <a:ext cx="12192000" cy="5701506"/>
            <a:chOff x="0" y="-47625"/>
            <a:chExt cx="4816593" cy="16145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303244" y="204800"/>
            <a:ext cx="3556000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OBJECTIVES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E37ED-6D60-C5C9-1C32-65458745B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F3B1876-2D8B-2958-C0ED-0D2DA444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9363F-5256-208C-10E5-9C22F052BDC5}"/>
              </a:ext>
            </a:extLst>
          </p:cNvPr>
          <p:cNvSpPr txBox="1"/>
          <p:nvPr/>
        </p:nvSpPr>
        <p:spPr>
          <a:xfrm>
            <a:off x="1512950" y="1110382"/>
            <a:ext cx="9136589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Customer Analysis</a:t>
            </a:r>
            <a:r>
              <a:rPr lang="en-IN" sz="2400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 – Understand customer purchasing behaviour and spending patterns.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Product Analysis</a:t>
            </a:r>
            <a:r>
              <a:rPr lang="en-IN" sz="2400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 – Identify top-performing and low-performing products.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Sales Analysis</a:t>
            </a:r>
            <a:r>
              <a:rPr lang="en-IN" sz="2400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 – Analyse sales trends across different time periods.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Revenue Analysis</a:t>
            </a:r>
            <a:r>
              <a:rPr lang="en-IN" sz="2400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 – Identify major contributors to overall revenue.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Customer Segmentation</a:t>
            </a:r>
            <a:r>
              <a:rPr lang="en-IN" sz="2400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 – Group customers based on their purchasing behaviour.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Dashboard Development</a:t>
            </a:r>
            <a:r>
              <a:rPr lang="en-IN" sz="2400" dirty="0">
                <a:solidFill>
                  <a:srgbClr val="F8F0E6"/>
                </a:solidFill>
                <a:latin typeface="Nunito" panose="020B0604020202020204"/>
                <a:cs typeface="Times New Roman" panose="02020603050405020304" pitchFamily="18" charset="0"/>
              </a:rPr>
              <a:t> – Present important metrics and insights through an interactive dashboard.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6F63-3A69-F794-40F8-6EFB130A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964C7D-E22E-7435-728F-EADE719EB431}"/>
              </a:ext>
            </a:extLst>
          </p:cNvPr>
          <p:cNvGrpSpPr/>
          <p:nvPr/>
        </p:nvGrpSpPr>
        <p:grpSpPr>
          <a:xfrm>
            <a:off x="0" y="1971807"/>
            <a:ext cx="12192000" cy="3966335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4527BF-BF5C-63BC-821D-DEB21B2ED8C5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844B2D-2E48-391E-15F6-F704E79A890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438601F-27D8-9CE2-9494-13CAD2F399F0}"/>
              </a:ext>
            </a:extLst>
          </p:cNvPr>
          <p:cNvSpPr txBox="1"/>
          <p:nvPr/>
        </p:nvSpPr>
        <p:spPr>
          <a:xfrm>
            <a:off x="2556268" y="800433"/>
            <a:ext cx="6596743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EXPECTED OUTCOMES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CD6B97-17BA-B4CC-A18C-2487200E74AB}"/>
              </a:ext>
            </a:extLst>
          </p:cNvPr>
          <p:cNvSpPr txBox="1"/>
          <p:nvPr/>
        </p:nvSpPr>
        <p:spPr>
          <a:xfrm>
            <a:off x="2556268" y="1924540"/>
            <a:ext cx="10038387" cy="387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Clean and structured retail transaction dataset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Identification of important customer purchasing patterns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Identification of high-performing products and categories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Analysis of sales and revenue trends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Meaningful customer segments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Interactive visualization of key business metrics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Centralized dashboard for easier interpretation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Insights to support data-driven decision-making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EAB37-9F83-08B7-98E0-4FE6B5485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FA63DC3-2AB3-E4DE-D328-7DF8EDB3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768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7A3E-E0C7-291A-04DF-726D4DB2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8EB71A-D8DE-BF0A-530A-211C83187DA9}"/>
              </a:ext>
            </a:extLst>
          </p:cNvPr>
          <p:cNvGrpSpPr/>
          <p:nvPr/>
        </p:nvGrpSpPr>
        <p:grpSpPr>
          <a:xfrm>
            <a:off x="-14753" y="675204"/>
            <a:ext cx="12192000" cy="6046271"/>
            <a:chOff x="0" y="-47625"/>
            <a:chExt cx="4816593" cy="16145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1D22E5-7C82-EE54-599C-F29B809EF1E4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516A6AF-8552-21BE-B6B5-552C3AC66C31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E1A6791-1CA6-6842-C091-364F5AABC14A}"/>
              </a:ext>
            </a:extLst>
          </p:cNvPr>
          <p:cNvSpPr txBox="1"/>
          <p:nvPr/>
        </p:nvSpPr>
        <p:spPr>
          <a:xfrm>
            <a:off x="4801323" y="62308"/>
            <a:ext cx="4601029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DATASET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A22AA9-95F4-0379-5F7B-42DB1BB69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D8E49CC-7685-B00D-788B-251D1B03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D7D1C-59CD-2DDE-9FD2-FFAFE45C628A}"/>
              </a:ext>
            </a:extLst>
          </p:cNvPr>
          <p:cNvSpPr txBox="1"/>
          <p:nvPr/>
        </p:nvSpPr>
        <p:spPr>
          <a:xfrm>
            <a:off x="1101873" y="942899"/>
            <a:ext cx="12162491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Source: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 Kaggle – E-Commerce Sales and Customer Analytics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Type: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 Simulated Indian e-commerce data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Datasets: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 7 CSV files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Dataset Size:</a:t>
            </a:r>
            <a:endParaRPr lang="en-IN" sz="2000" dirty="0">
              <a:solidFill>
                <a:srgbClr val="F8F0E6"/>
              </a:solidFill>
              <a:latin typeface="Nunito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Customers: 25,000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Orders: 1,00,000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Order Items: 2,54,331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Products: 550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Payments: 1,00,000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Returns: 12,075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F8F0E6"/>
                </a:solidFill>
                <a:latin typeface="Nunito"/>
              </a:rPr>
              <a:t>Reviews: 77,530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Purpose: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 Analyse customer behaviour, sales, product performance, returns, and payments.</a:t>
            </a:r>
          </a:p>
        </p:txBody>
      </p:sp>
    </p:spTree>
    <p:extLst>
      <p:ext uri="{BB962C8B-B14F-4D97-AF65-F5344CB8AC3E}">
        <p14:creationId xmlns:p14="http://schemas.microsoft.com/office/powerpoint/2010/main" val="2370725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AFD507-FC0D-7DB0-7757-90C3EFDA8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51971"/>
              </p:ext>
            </p:extLst>
          </p:nvPr>
        </p:nvGraphicFramePr>
        <p:xfrm>
          <a:off x="716240" y="1456005"/>
          <a:ext cx="10528965" cy="5031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793">
                  <a:extLst>
                    <a:ext uri="{9D8B030D-6E8A-4147-A177-3AD203B41FA5}">
                      <a16:colId xmlns:a16="http://schemas.microsoft.com/office/drawing/2014/main" val="1646668700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744980959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2490900807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62529343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2886649303"/>
                    </a:ext>
                  </a:extLst>
                </a:gridCol>
              </a:tblGrid>
              <a:tr h="800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  <a:latin typeface="Nunito" panose="020B0604020202020204"/>
                        </a:rPr>
                        <a:t>Authors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  <a:latin typeface="Nunito" panose="020B0604020202020204"/>
                        </a:rPr>
                        <a:t>Title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  <a:latin typeface="Nunito" panose="020B0604020202020204"/>
                        </a:rPr>
                        <a:t>Methodology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  <a:latin typeface="Nunito" panose="020B0604020202020204"/>
                        </a:rPr>
                        <a:t>Inferences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  <a:latin typeface="Nunito" panose="020B0604020202020204"/>
                        </a:rPr>
                        <a:t>Limitation / Future Work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297577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Chen et al. (2012)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Data Mining for Online Retail Industry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RFM, K-Means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Effective customer segmentation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Mainly customer-focused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36694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Hong &amp; Kim (2012)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Customer Segmentation in Online Stores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SOM, K-Means, KNN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Identifies customer groups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Limited business-wide analysis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751319"/>
                  </a:ext>
                </a:extLst>
              </a:tr>
              <a:tr h="800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Griva et al. (2018)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Retail Business Analytics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Market Basket, Clustering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Identifies shopping patterns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Focuses mainly on customer visits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957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Wong et al. (2024)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Customer Segmentation in E-Commerce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RFM, Clustering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Identifies valuable customer groups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  <a:latin typeface="Nunito" panose="020B0604020202020204"/>
                        </a:rPr>
                        <a:t>Mainly segmentation-focused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0321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F3B9D7C-4B0D-3661-1124-31336E86EF03}"/>
              </a:ext>
            </a:extLst>
          </p:cNvPr>
          <p:cNvSpPr txBox="1"/>
          <p:nvPr/>
        </p:nvSpPr>
        <p:spPr>
          <a:xfrm>
            <a:off x="3780121" y="400216"/>
            <a:ext cx="5296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77A9A77-2E95-7B8A-83AA-66F27073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64" y="6424563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952491"/>
            <a:ext cx="12192000" cy="3966335"/>
            <a:chOff x="0" y="0"/>
            <a:chExt cx="4816593" cy="1566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195409" y="2451152"/>
            <a:ext cx="2057400" cy="217795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333"/>
              </a:lnSpc>
            </a:pPr>
            <a:endParaRPr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BDC25-10A6-B301-9C59-6954036DC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196" y="-15255"/>
            <a:ext cx="1596965" cy="800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C9718B00-3582-EB29-6FCB-FC4BC905322E}"/>
              </a:ext>
            </a:extLst>
          </p:cNvPr>
          <p:cNvGrpSpPr/>
          <p:nvPr/>
        </p:nvGrpSpPr>
        <p:grpSpPr>
          <a:xfrm>
            <a:off x="816625" y="1486233"/>
            <a:ext cx="5182890" cy="5152360"/>
            <a:chOff x="0" y="0"/>
            <a:chExt cx="812800" cy="8128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B7D55BA-37D1-BAA8-8340-9AFB55BE67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6EAC9792-011F-B4ED-07F9-3BA949C3935F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9DB53F-F016-0FC2-8847-C437AEB58A73}"/>
              </a:ext>
            </a:extLst>
          </p:cNvPr>
          <p:cNvSpPr txBox="1"/>
          <p:nvPr/>
        </p:nvSpPr>
        <p:spPr>
          <a:xfrm>
            <a:off x="1041346" y="1864967"/>
            <a:ext cx="473344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Nunito"/>
              </a:rPr>
              <a:t>Existing Focus</a:t>
            </a:r>
          </a:p>
          <a:p>
            <a:pPr lvl="0"/>
            <a:r>
              <a:rPr lang="en-IN" sz="2000" b="1" dirty="0">
                <a:latin typeface="Nunito"/>
              </a:rPr>
              <a:t>Customer Segmentation</a:t>
            </a:r>
            <a:r>
              <a:rPr lang="en-IN" sz="2000" dirty="0">
                <a:latin typeface="Nunito"/>
              </a:rPr>
              <a:t> – grouping customers based on their purchasing behaviour. </a:t>
            </a:r>
          </a:p>
          <a:p>
            <a:pPr lvl="0"/>
            <a:r>
              <a:rPr lang="en-IN" sz="2000" b="1" dirty="0">
                <a:latin typeface="Nunito"/>
              </a:rPr>
              <a:t>RFM Analysis</a:t>
            </a:r>
            <a:r>
              <a:rPr lang="en-IN" sz="2000" dirty="0">
                <a:latin typeface="Nunito"/>
              </a:rPr>
              <a:t> – evaluating customers using Recency, Frequency and Monetary value. </a:t>
            </a:r>
          </a:p>
          <a:p>
            <a:pPr lvl="0"/>
            <a:r>
              <a:rPr lang="en-IN" sz="2000" b="1" dirty="0">
                <a:latin typeface="Nunito"/>
              </a:rPr>
              <a:t>Purchase Behaviour</a:t>
            </a:r>
            <a:r>
              <a:rPr lang="en-IN" sz="2000" dirty="0">
                <a:latin typeface="Nunito"/>
              </a:rPr>
              <a:t> – analysing what, when and how frequently customers purchase. </a:t>
            </a:r>
          </a:p>
          <a:p>
            <a:pPr lvl="0"/>
            <a:r>
              <a:rPr lang="en-IN" sz="2000" b="1" dirty="0">
                <a:latin typeface="Nunito"/>
              </a:rPr>
              <a:t>Market Basket Analysis</a:t>
            </a:r>
            <a:r>
              <a:rPr lang="en-IN" sz="2000" dirty="0">
                <a:latin typeface="Nunito"/>
              </a:rPr>
              <a:t> – identifying products that are frequently purchased together. </a:t>
            </a:r>
          </a:p>
          <a:p>
            <a:pPr lvl="0"/>
            <a:r>
              <a:rPr lang="en-IN" sz="2000" b="1" dirty="0">
                <a:latin typeface="Nunito"/>
              </a:rPr>
              <a:t>Sales Analysis</a:t>
            </a:r>
            <a:r>
              <a:rPr lang="en-IN" sz="2000" dirty="0">
                <a:latin typeface="Nunito"/>
              </a:rPr>
              <a:t> – analysing sales performance and trends.</a:t>
            </a:r>
          </a:p>
          <a:p>
            <a:pPr algn="just">
              <a:buNone/>
            </a:pPr>
            <a:endParaRPr lang="en-IN" sz="2000" b="1" dirty="0">
              <a:latin typeface="Nunito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735824CE-F923-CC72-DF51-776CA8B47BC4}"/>
              </a:ext>
            </a:extLst>
          </p:cNvPr>
          <p:cNvGrpSpPr/>
          <p:nvPr/>
        </p:nvGrpSpPr>
        <p:grpSpPr>
          <a:xfrm>
            <a:off x="6604663" y="1245670"/>
            <a:ext cx="5182890" cy="5454255"/>
            <a:chOff x="0" y="-47625"/>
            <a:chExt cx="812800" cy="860425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E4CA683-0A26-0A6F-42C5-38AE8AA2FC87}"/>
                </a:ext>
              </a:extLst>
            </p:cNvPr>
            <p:cNvSpPr/>
            <p:nvPr/>
          </p:nvSpPr>
          <p:spPr>
            <a:xfrm>
              <a:off x="0" y="-9675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655CB9CD-D801-7EC9-72DB-558AFBFA6BA8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A98BF91-8B59-5DA8-09A4-7C548D085871}"/>
              </a:ext>
            </a:extLst>
          </p:cNvPr>
          <p:cNvSpPr txBox="1"/>
          <p:nvPr/>
        </p:nvSpPr>
        <p:spPr>
          <a:xfrm>
            <a:off x="6805028" y="1751487"/>
            <a:ext cx="489556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Nunito"/>
              </a:rPr>
              <a:t>Identified Gap</a:t>
            </a:r>
          </a:p>
          <a:p>
            <a:pPr algn="just">
              <a:buNone/>
            </a:pPr>
            <a:r>
              <a:rPr lang="en-IN" sz="2000" dirty="0">
                <a:latin typeface="Nunito"/>
              </a:rPr>
              <a:t>Most approaches focus on </a:t>
            </a:r>
            <a:r>
              <a:rPr lang="en-IN" sz="2000" b="1" dirty="0">
                <a:latin typeface="Nunito"/>
              </a:rPr>
              <a:t>specific aspects of e-commerce analytics</a:t>
            </a:r>
            <a:r>
              <a:rPr lang="en-IN" sz="2000" dirty="0">
                <a:latin typeface="Nunito"/>
              </a:rPr>
              <a:t> rather than providing a unified view of the complete business.</a:t>
            </a:r>
          </a:p>
          <a:p>
            <a:pPr algn="just">
              <a:buNone/>
            </a:pPr>
            <a:r>
              <a:rPr lang="en-IN" sz="2000" dirty="0">
                <a:latin typeface="Nunito"/>
              </a:rPr>
              <a:t>There is a need to integrate:</a:t>
            </a:r>
          </a:p>
          <a:p>
            <a:pPr algn="just">
              <a:buNone/>
            </a:pPr>
            <a:r>
              <a:rPr lang="en-IN" sz="2000" b="1" dirty="0">
                <a:latin typeface="Nunito"/>
              </a:rPr>
              <a:t>Customer Behaviour + Product Performance + Sales + Revenue</a:t>
            </a:r>
          </a:p>
          <a:p>
            <a:pPr algn="just">
              <a:buNone/>
            </a:pPr>
            <a:endParaRPr lang="en-IN" sz="2000" dirty="0">
              <a:latin typeface="Nunito"/>
            </a:endParaRPr>
          </a:p>
          <a:p>
            <a:pPr algn="just">
              <a:buNone/>
            </a:pPr>
            <a:r>
              <a:rPr lang="en-IN" sz="2000" b="1" dirty="0" err="1">
                <a:latin typeface="Nunito"/>
              </a:rPr>
              <a:t>RetailIQ</a:t>
            </a:r>
            <a:endParaRPr lang="en-IN" sz="2000" b="1" dirty="0">
              <a:latin typeface="Nunito"/>
            </a:endParaRPr>
          </a:p>
          <a:p>
            <a:pPr algn="just">
              <a:buNone/>
            </a:pPr>
            <a:r>
              <a:rPr lang="en-IN" sz="2000" dirty="0" err="1">
                <a:latin typeface="Nunito"/>
              </a:rPr>
              <a:t>RetailIQ</a:t>
            </a:r>
            <a:r>
              <a:rPr lang="en-IN" sz="2000" dirty="0">
                <a:latin typeface="Nunito"/>
              </a:rPr>
              <a:t> addresses this gap by bringing these analytical aspects together and presenting the results through visualization and an interactive dashboard.</a:t>
            </a:r>
          </a:p>
          <a:p>
            <a:pPr algn="just">
              <a:buNone/>
            </a:pPr>
            <a:r>
              <a:rPr lang="en-IN" sz="2000" b="1" dirty="0">
                <a:latin typeface="Nunito"/>
              </a:rPr>
              <a:t>Transaction Data → Data Analysis → Visualization → Business Insights</a:t>
            </a:r>
            <a:endParaRPr lang="en-IN" sz="2000" dirty="0">
              <a:latin typeface="Nunito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91FE29-B2AC-A904-FE35-7038C6BE8D4B}"/>
              </a:ext>
            </a:extLst>
          </p:cNvPr>
          <p:cNvSpPr txBox="1"/>
          <p:nvPr/>
        </p:nvSpPr>
        <p:spPr>
          <a:xfrm>
            <a:off x="2614384" y="561295"/>
            <a:ext cx="798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D670CA50-0A3E-9DBE-13D0-F1D9F2EC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3264" y="6208823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50963" y="2852970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INNOVATION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0079" y="1620492"/>
            <a:ext cx="5642516" cy="361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Nunito"/>
              </a:rPr>
              <a:t>Integrated e-commerce analytics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Nunito"/>
              </a:rPr>
              <a:t>Customer behaviour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Nunito"/>
              </a:rPr>
              <a:t>Product performance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Nunito"/>
              </a:rPr>
              <a:t>Sales &amp; revenue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91B8BA-4986-9AB8-0D18-B9A3B709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20A1-A6B2-85D0-AF7C-EDC09EF4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15B8532-4806-4EB6-E1C9-A40FEEAE54F7}"/>
              </a:ext>
            </a:extLst>
          </p:cNvPr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225801-304E-DE71-7F1C-BB38EA743E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F1F6C17-6574-250B-C891-15BFB7C76BA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CA43732D-7AEC-C541-95B7-7A7E860A2203}"/>
              </a:ext>
            </a:extLst>
          </p:cNvPr>
          <p:cNvSpPr txBox="1"/>
          <p:nvPr/>
        </p:nvSpPr>
        <p:spPr>
          <a:xfrm>
            <a:off x="950963" y="2852970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CREATIVITY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9CDEE9-436C-49F7-A92B-99243307CAED}"/>
              </a:ext>
            </a:extLst>
          </p:cNvPr>
          <p:cNvSpPr txBox="1"/>
          <p:nvPr/>
        </p:nvSpPr>
        <p:spPr>
          <a:xfrm>
            <a:off x="6200079" y="1989824"/>
            <a:ext cx="5642516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Interactive dashboard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Visual KPI representation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Easy-to-understand business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12A12-EC05-C3F2-8F60-5B0D59536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8E47C71-8D5C-B5DE-6340-2B7F7B1E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77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F626-91E3-37B2-66B6-DF605D85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89A5A7C-77DE-5207-8846-A4D46675C1E4}"/>
              </a:ext>
            </a:extLst>
          </p:cNvPr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A488FB-550D-0C83-9F31-8A94064538C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CCE576-9B68-AE26-DD38-BAE20F32082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23A6F929-4057-03CE-7FDD-E154AB13EEE9}"/>
              </a:ext>
            </a:extLst>
          </p:cNvPr>
          <p:cNvSpPr txBox="1"/>
          <p:nvPr/>
        </p:nvSpPr>
        <p:spPr>
          <a:xfrm>
            <a:off x="1700119" y="2949179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NOVELTY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DE31CCA-2BD9-E37C-EFF1-19BA274A9A9C}"/>
              </a:ext>
            </a:extLst>
          </p:cNvPr>
          <p:cNvSpPr txBox="1"/>
          <p:nvPr/>
        </p:nvSpPr>
        <p:spPr>
          <a:xfrm>
            <a:off x="6403975" y="1989824"/>
            <a:ext cx="5642516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3200" b="1" dirty="0">
                <a:latin typeface="+mj-lt"/>
              </a:rPr>
              <a:t>Unified view of customer, product, sales and revenue information in one analytics platform.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4C8D2-4904-55DC-12C5-27C87F565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C01DB2C-80B5-2672-20CC-416B8DC7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1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3301688" y="211238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FEASIBILITY</a:t>
            </a: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936BCF49-4CE7-2EF7-8E8D-AE4D82500F7D}"/>
              </a:ext>
            </a:extLst>
          </p:cNvPr>
          <p:cNvGrpSpPr/>
          <p:nvPr/>
        </p:nvGrpSpPr>
        <p:grpSpPr>
          <a:xfrm>
            <a:off x="1462581" y="1142022"/>
            <a:ext cx="4475056" cy="2743200"/>
            <a:chOff x="0" y="0"/>
            <a:chExt cx="2529707" cy="174035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A4B7BA6-FF7B-1CFA-4C07-C0B9320EB6F3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941AFCE5-C8F0-2EB3-75D8-E68D5443282D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603902FE-A84D-6484-C863-F7D3AB758ABF}"/>
              </a:ext>
            </a:extLst>
          </p:cNvPr>
          <p:cNvGrpSpPr/>
          <p:nvPr/>
        </p:nvGrpSpPr>
        <p:grpSpPr>
          <a:xfrm>
            <a:off x="6254362" y="1104403"/>
            <a:ext cx="4475056" cy="2743200"/>
            <a:chOff x="0" y="0"/>
            <a:chExt cx="2529707" cy="1740350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A792F33-B873-332A-18F1-DFB787E03859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1B02A933-2962-7E51-F0C8-57EF2638EA36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grpSp>
        <p:nvGrpSpPr>
          <p:cNvPr id="19" name="Group 8">
            <a:extLst>
              <a:ext uri="{FF2B5EF4-FFF2-40B4-BE49-F238E27FC236}">
                <a16:creationId xmlns:a16="http://schemas.microsoft.com/office/drawing/2014/main" id="{064959A0-DFB7-A990-5D46-E3FB4F851D45}"/>
              </a:ext>
            </a:extLst>
          </p:cNvPr>
          <p:cNvGrpSpPr/>
          <p:nvPr/>
        </p:nvGrpSpPr>
        <p:grpSpPr>
          <a:xfrm>
            <a:off x="3689414" y="4049927"/>
            <a:ext cx="4475056" cy="2743200"/>
            <a:chOff x="0" y="0"/>
            <a:chExt cx="2529707" cy="1740350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A50635F0-C15E-F7E5-6D71-3CE62515D6BD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21" name="TextBox 10">
              <a:extLst>
                <a:ext uri="{FF2B5EF4-FFF2-40B4-BE49-F238E27FC236}">
                  <a16:creationId xmlns:a16="http://schemas.microsoft.com/office/drawing/2014/main" id="{E36D9357-BE05-68EB-70CB-4062939C04DB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782242B-CB15-D316-678A-D5C4134067B0}"/>
              </a:ext>
            </a:extLst>
          </p:cNvPr>
          <p:cNvSpPr txBox="1"/>
          <p:nvPr/>
        </p:nvSpPr>
        <p:spPr>
          <a:xfrm>
            <a:off x="1671875" y="1104403"/>
            <a:ext cx="426576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  <a:latin typeface="Nunito"/>
              </a:rPr>
              <a:t>Technical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  <a:latin typeface="Nunito"/>
              </a:rPr>
              <a:t>Python-based data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  <a:latin typeface="Nunito"/>
              </a:rPr>
              <a:t>Pandas &amp; NumPy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  <a:latin typeface="Nunito"/>
              </a:rPr>
              <a:t>Data visualization tools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  <a:latin typeface="Nunito"/>
              </a:rPr>
              <a:t>Interactive dashboard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E7FC5-E2D8-E3C5-9E9A-8C8EB27EB2FF}"/>
              </a:ext>
            </a:extLst>
          </p:cNvPr>
          <p:cNvSpPr txBox="1"/>
          <p:nvPr/>
        </p:nvSpPr>
        <p:spPr>
          <a:xfrm>
            <a:off x="6429699" y="1312936"/>
            <a:ext cx="4299719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Economic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Open-source tools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Existing computing resources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Low development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61534-90CE-48EC-F300-E116FCBFDDF3}"/>
              </a:ext>
            </a:extLst>
          </p:cNvPr>
          <p:cNvSpPr txBox="1"/>
          <p:nvPr/>
        </p:nvSpPr>
        <p:spPr>
          <a:xfrm>
            <a:off x="3689414" y="3984534"/>
            <a:ext cx="4475055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Operational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Easy-to-understand visualizations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Centralized business insights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Supports data-driven decisions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98478-6287-6EA5-3CF8-EE3A660C1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5AC4944-ADEC-61C0-CA46-D68BF1DB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DBE6F-85AD-4395-8C30-089FDE25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305EF2D9-8532-6E22-9539-90B8F3665F11}"/>
              </a:ext>
            </a:extLst>
          </p:cNvPr>
          <p:cNvSpPr txBox="1"/>
          <p:nvPr/>
        </p:nvSpPr>
        <p:spPr>
          <a:xfrm>
            <a:off x="3279386" y="800433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PROJECT PLAN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C3BA9-F851-987D-1F3D-1DB7C2E43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EFD390-4F3F-E922-5EB9-0796E11ED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083"/>
            <a:ext cx="12192000" cy="40640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5141783-7DEC-178F-324D-3FCE4DA8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822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62AC-0069-E16C-0F06-41B68995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F38CE86-17B9-348F-ABE9-B6DF0403A4D5}"/>
              </a:ext>
            </a:extLst>
          </p:cNvPr>
          <p:cNvGrpSpPr/>
          <p:nvPr/>
        </p:nvGrpSpPr>
        <p:grpSpPr>
          <a:xfrm>
            <a:off x="-14753" y="675204"/>
            <a:ext cx="12192000" cy="6046271"/>
            <a:chOff x="0" y="-47625"/>
            <a:chExt cx="4816593" cy="16145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CAECBD-92AD-3572-8495-D85A91623649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5DF398C-0A1A-1842-2A2D-33D063FB01D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532066F-2326-9E01-1D81-FBE0083DE058}"/>
              </a:ext>
            </a:extLst>
          </p:cNvPr>
          <p:cNvSpPr txBox="1"/>
          <p:nvPr/>
        </p:nvSpPr>
        <p:spPr>
          <a:xfrm>
            <a:off x="3795483" y="77090"/>
            <a:ext cx="4601029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METHODOLOGY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914FF3-4FAA-1E36-50DB-58B83F0B1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7742B64-F993-0979-AB4E-45DF821D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0138B-B7A5-ED5B-16C4-E330E7ABEFD7}"/>
              </a:ext>
            </a:extLst>
          </p:cNvPr>
          <p:cNvSpPr txBox="1"/>
          <p:nvPr/>
        </p:nvSpPr>
        <p:spPr>
          <a:xfrm>
            <a:off x="14753" y="749421"/>
            <a:ext cx="12162491" cy="604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1. Data Cleaning: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Handled missing values using median values (for age and ratings)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2. Data Integration: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Merged 7 separate business tables (customers, orders, items, products, payments, returns, reviews) into one master dataset (retailiq_master.csv).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3. Feature Engineering: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Created 15+ new metrics like item-level profit, profit margin %, customer lifetime days, discount amounts, and order time features.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4. Customer </a:t>
            </a:r>
            <a:r>
              <a:rPr lang="en-IN" sz="2000" b="1" dirty="0" err="1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Behavioral</a:t>
            </a: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Modeling</a:t>
            </a: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Computed RFM metrics (Recency, Frequency, Monetary) to assess customer purchasing habits.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5. Machine Learning Segmentation: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Standardized RFM features and grouped customers into data-driven clusters using K-Means.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6. Operations &amp; Sentiment Analysis: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Evaluated return causes, payment gateway failure rates, and customer review sentiments.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7. Interactive BI Dashboard: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 Developed a multi-page interactive </a:t>
            </a:r>
            <a:r>
              <a:rPr lang="en-IN" sz="2000" dirty="0" err="1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 dashboard with </a:t>
            </a:r>
            <a:r>
              <a:rPr lang="en-IN" sz="2000" dirty="0" err="1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solidFill>
                  <a:srgbClr val="F8F0E6"/>
                </a:solidFill>
                <a:latin typeface="Nunito"/>
                <a:cs typeface="Times New Roman" panose="02020603050405020304" pitchFamily="18" charset="0"/>
              </a:rPr>
              <a:t> charts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515793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FC20-CDC0-4A51-9AF8-6917337A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79539AA2-50E4-DEA2-B3A3-795FB53B930F}"/>
              </a:ext>
            </a:extLst>
          </p:cNvPr>
          <p:cNvSpPr txBox="1"/>
          <p:nvPr/>
        </p:nvSpPr>
        <p:spPr>
          <a:xfrm>
            <a:off x="6096000" y="3077878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FCC11-5006-18AC-578F-866B72524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035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08AEBE9-08D1-9570-71F9-191B8478A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7F573-A6B3-CA37-CBBA-A5B5E4C1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2"/>
          <a:stretch>
            <a:fillRect/>
          </a:stretch>
        </p:blipFill>
        <p:spPr>
          <a:xfrm>
            <a:off x="335280" y="0"/>
            <a:ext cx="5852160" cy="686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91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8E1A-B6E8-CB9B-C5F7-9A67EC86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C9DF49-0130-8AFE-0FFC-346555B392CA}"/>
              </a:ext>
            </a:extLst>
          </p:cNvPr>
          <p:cNvGrpSpPr/>
          <p:nvPr/>
        </p:nvGrpSpPr>
        <p:grpSpPr>
          <a:xfrm>
            <a:off x="-14753" y="1234410"/>
            <a:ext cx="12192000" cy="5383612"/>
            <a:chOff x="0" y="-47625"/>
            <a:chExt cx="4816593" cy="16145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EC8E79-78E9-F622-FA2F-863C85654257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84BA019-53A7-7433-A9A3-C217D753FAB1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ED22866E-82F0-327D-D98C-8DDEC4B955FE}"/>
              </a:ext>
            </a:extLst>
          </p:cNvPr>
          <p:cNvSpPr txBox="1"/>
          <p:nvPr/>
        </p:nvSpPr>
        <p:spPr>
          <a:xfrm>
            <a:off x="3197734" y="368304"/>
            <a:ext cx="5796531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IMPLEMENTATION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6769B4-5B4D-D818-E4EA-80288C8EE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D95A8B1-EF4E-91D7-1324-73B6AE8A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5C1EE-C574-CD17-2372-53BCEBF05ABC}"/>
              </a:ext>
            </a:extLst>
          </p:cNvPr>
          <p:cNvSpPr txBox="1"/>
          <p:nvPr/>
        </p:nvSpPr>
        <p:spPr>
          <a:xfrm>
            <a:off x="334241" y="2188508"/>
            <a:ext cx="12162491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Programming Language: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 Python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Core Libraries:</a:t>
            </a:r>
            <a:endParaRPr lang="en-IN" sz="2000" dirty="0">
              <a:solidFill>
                <a:srgbClr val="F8F0E6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Data Processing: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 Pandas, NumPy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Machine Learning: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 Scikit-Learn (</a:t>
            </a:r>
            <a:r>
              <a:rPr lang="en-IN" sz="2000" dirty="0" err="1">
                <a:solidFill>
                  <a:srgbClr val="F8F0E6"/>
                </a:solidFill>
                <a:latin typeface="Nunito"/>
              </a:rPr>
              <a:t>KMeans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, </a:t>
            </a:r>
            <a:r>
              <a:rPr lang="en-IN" sz="2000" dirty="0" err="1">
                <a:solidFill>
                  <a:srgbClr val="F8F0E6"/>
                </a:solidFill>
                <a:latin typeface="Nunito"/>
              </a:rPr>
              <a:t>StandardScaler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, </a:t>
            </a:r>
            <a:r>
              <a:rPr lang="en-IN" sz="2000" dirty="0" err="1">
                <a:solidFill>
                  <a:srgbClr val="F8F0E6"/>
                </a:solidFill>
                <a:latin typeface="Nunito"/>
              </a:rPr>
              <a:t>silhouette_score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Data Visualization: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 </a:t>
            </a:r>
            <a:r>
              <a:rPr lang="en-IN" sz="2000" dirty="0" err="1">
                <a:solidFill>
                  <a:srgbClr val="F8F0E6"/>
                </a:solidFill>
                <a:latin typeface="Nunito"/>
              </a:rPr>
              <a:t>Plotly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 Express &amp; Graph Objects, Matplotlib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Web Application: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 </a:t>
            </a:r>
            <a:r>
              <a:rPr lang="en-IN" sz="2000" dirty="0" err="1">
                <a:solidFill>
                  <a:srgbClr val="F8F0E6"/>
                </a:solidFill>
                <a:latin typeface="Nunito"/>
              </a:rPr>
              <a:t>Streamlit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 (with custom dark-mode CSS theme)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F8F0E6"/>
                </a:solidFill>
                <a:latin typeface="Nunito"/>
              </a:rPr>
              <a:t>Dataset Scale:</a:t>
            </a:r>
            <a:r>
              <a:rPr lang="en-IN" sz="2000" dirty="0">
                <a:solidFill>
                  <a:srgbClr val="F8F0E6"/>
                </a:solidFill>
                <a:latin typeface="Nunito"/>
              </a:rPr>
              <a:t> 100,000 orders, 25,000 customers, 254,331 line items, 550 products across India.</a:t>
            </a:r>
          </a:p>
        </p:txBody>
      </p:sp>
    </p:spTree>
    <p:extLst>
      <p:ext uri="{BB962C8B-B14F-4D97-AF65-F5344CB8AC3E}">
        <p14:creationId xmlns:p14="http://schemas.microsoft.com/office/powerpoint/2010/main" val="397940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9021-DD5B-0DDE-277D-D0892962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7420218F-003D-DA8E-86D4-23990ADF2B9E}"/>
              </a:ext>
            </a:extLst>
          </p:cNvPr>
          <p:cNvSpPr txBox="1"/>
          <p:nvPr/>
        </p:nvSpPr>
        <p:spPr>
          <a:xfrm>
            <a:off x="6380716" y="3076049"/>
            <a:ext cx="5796531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IMPLEMENTATION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5685BC-EEB6-99F2-4542-CFE17DB15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66C2664-DBBF-51F9-1D6C-C0B3215C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FFB02E-52EF-E17B-C82D-09987B58C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76" y="143144"/>
            <a:ext cx="4291424" cy="657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45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BB91-853A-0475-B13A-E9BF95CB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BE7C8E-ED0B-9094-BC89-4D6368CE3DA3}"/>
              </a:ext>
            </a:extLst>
          </p:cNvPr>
          <p:cNvGrpSpPr/>
          <p:nvPr/>
        </p:nvGrpSpPr>
        <p:grpSpPr>
          <a:xfrm>
            <a:off x="-14753" y="1234410"/>
            <a:ext cx="12192000" cy="5383612"/>
            <a:chOff x="0" y="-47625"/>
            <a:chExt cx="4816593" cy="16145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74AA8B-F4FC-19D5-03D2-9468B10DA5F1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B4BBF4-FFDC-881F-23A9-19157BBB8CB7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5C9E0EE-6748-7161-4BB7-BF71C368A935}"/>
              </a:ext>
            </a:extLst>
          </p:cNvPr>
          <p:cNvSpPr txBox="1"/>
          <p:nvPr/>
        </p:nvSpPr>
        <p:spPr>
          <a:xfrm>
            <a:off x="3197734" y="368304"/>
            <a:ext cx="5796531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ALGORITHMS USED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05887C-94BB-BCEC-A48E-CB427B4B1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42A7E05-AF22-69B8-D1C3-715DC717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0105C-7ADD-6A24-AD9A-67936044D20B}"/>
              </a:ext>
            </a:extLst>
          </p:cNvPr>
          <p:cNvSpPr txBox="1"/>
          <p:nvPr/>
        </p:nvSpPr>
        <p:spPr>
          <a:xfrm>
            <a:off x="-194568" y="1393210"/>
            <a:ext cx="12162491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b="1" dirty="0">
                <a:solidFill>
                  <a:srgbClr val="F8F0E6"/>
                </a:solidFill>
                <a:latin typeface="Nunito"/>
              </a:rPr>
              <a:t>        1. RFM Scoring &amp; Quantile Binning:</a:t>
            </a:r>
            <a:endParaRPr lang="en-IN" dirty="0">
              <a:solidFill>
                <a:srgbClr val="F8F0E6"/>
              </a:solidFill>
              <a:latin typeface="Nunito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8F0E6"/>
                </a:solidFill>
                <a:latin typeface="Nunito"/>
              </a:rPr>
              <a:t>Divides customers into 5 quantile ranks (1 to 5) based on </a:t>
            </a:r>
            <a:r>
              <a:rPr lang="en-IN" b="1" dirty="0">
                <a:solidFill>
                  <a:srgbClr val="F8F0E6"/>
                </a:solidFill>
                <a:latin typeface="Nunito"/>
              </a:rPr>
              <a:t>Recency</a:t>
            </a:r>
            <a:r>
              <a:rPr lang="en-IN" dirty="0">
                <a:solidFill>
                  <a:srgbClr val="F8F0E6"/>
                </a:solidFill>
                <a:latin typeface="Nunito"/>
              </a:rPr>
              <a:t> (last purchase date), </a:t>
            </a:r>
            <a:r>
              <a:rPr lang="en-IN" b="1" dirty="0">
                <a:solidFill>
                  <a:srgbClr val="F8F0E6"/>
                </a:solidFill>
                <a:latin typeface="Nunito"/>
              </a:rPr>
              <a:t>Frequency</a:t>
            </a:r>
            <a:r>
              <a:rPr lang="en-IN" dirty="0">
                <a:solidFill>
                  <a:srgbClr val="F8F0E6"/>
                </a:solidFill>
                <a:latin typeface="Nunito"/>
              </a:rPr>
              <a:t> (order count), and </a:t>
            </a:r>
            <a:r>
              <a:rPr lang="en-IN" b="1" dirty="0">
                <a:solidFill>
                  <a:srgbClr val="F8F0E6"/>
                </a:solidFill>
                <a:latin typeface="Nunito"/>
              </a:rPr>
              <a:t>Monetary</a:t>
            </a:r>
            <a:r>
              <a:rPr lang="en-IN" dirty="0">
                <a:solidFill>
                  <a:srgbClr val="F8F0E6"/>
                </a:solidFill>
                <a:latin typeface="Nunito"/>
              </a:rPr>
              <a:t> (total spent).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8F0E6"/>
                </a:solidFill>
                <a:latin typeface="Nunito"/>
              </a:rPr>
              <a:t>Automatically assigns customer segments: </a:t>
            </a:r>
            <a:r>
              <a:rPr lang="en-IN" i="1" dirty="0">
                <a:solidFill>
                  <a:srgbClr val="F8F0E6"/>
                </a:solidFill>
                <a:latin typeface="Nunito"/>
              </a:rPr>
              <a:t>Champions, Loyal, New, At Risk, and High-Value At Risk</a:t>
            </a:r>
            <a:r>
              <a:rPr lang="en-IN" dirty="0">
                <a:solidFill>
                  <a:srgbClr val="F8F0E6"/>
                </a:solidFill>
                <a:latin typeface="Nunito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solidFill>
                  <a:srgbClr val="F8F0E6"/>
                </a:solidFill>
                <a:latin typeface="Nunito"/>
              </a:rPr>
              <a:t>        2. K-Means Clustering (</a:t>
            </a:r>
            <a:r>
              <a:rPr lang="en-IN" b="1" dirty="0" err="1">
                <a:solidFill>
                  <a:srgbClr val="F8F0E6"/>
                </a:solidFill>
                <a:latin typeface="Nunito"/>
              </a:rPr>
              <a:t>sklearn.cluster.KMeans</a:t>
            </a:r>
            <a:r>
              <a:rPr lang="en-IN" b="1" dirty="0">
                <a:solidFill>
                  <a:srgbClr val="F8F0E6"/>
                </a:solidFill>
                <a:latin typeface="Nunito"/>
              </a:rPr>
              <a:t>):</a:t>
            </a:r>
            <a:endParaRPr lang="en-IN" dirty="0">
              <a:solidFill>
                <a:srgbClr val="F8F0E6"/>
              </a:solidFill>
              <a:latin typeface="Nunito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8F0E6"/>
                </a:solidFill>
                <a:latin typeface="Nunito"/>
              </a:rPr>
              <a:t>An unsupervised ML algorithm that automatically groups 25,000 customers into distinct </a:t>
            </a:r>
            <a:r>
              <a:rPr lang="en-IN" dirty="0" err="1">
                <a:solidFill>
                  <a:srgbClr val="F8F0E6"/>
                </a:solidFill>
                <a:latin typeface="Nunito"/>
              </a:rPr>
              <a:t>behavioral</a:t>
            </a:r>
            <a:r>
              <a:rPr lang="en-IN" dirty="0">
                <a:solidFill>
                  <a:srgbClr val="F8F0E6"/>
                </a:solidFill>
                <a:latin typeface="Nunito"/>
              </a:rPr>
              <a:t> clusters based on similarity in RFM features.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solidFill>
                  <a:srgbClr val="F8F0E6"/>
                </a:solidFill>
                <a:latin typeface="Nunito"/>
              </a:rPr>
              <a:t>        3. </a:t>
            </a:r>
            <a:r>
              <a:rPr lang="en-IN" b="1" dirty="0" err="1">
                <a:solidFill>
                  <a:srgbClr val="F8F0E6"/>
                </a:solidFill>
                <a:latin typeface="Nunito"/>
              </a:rPr>
              <a:t>StandardScaler</a:t>
            </a:r>
            <a:r>
              <a:rPr lang="en-IN" b="1" dirty="0">
                <a:solidFill>
                  <a:srgbClr val="F8F0E6"/>
                </a:solidFill>
                <a:latin typeface="Nunito"/>
              </a:rPr>
              <a:t> (Z-Score Normalization):</a:t>
            </a:r>
            <a:endParaRPr lang="en-IN" dirty="0">
              <a:solidFill>
                <a:srgbClr val="F8F0E6"/>
              </a:solidFill>
              <a:latin typeface="Nunito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8F0E6"/>
                </a:solidFill>
                <a:latin typeface="Nunito"/>
              </a:rPr>
              <a:t>Rescales RFM values so large money values (thousands of Rupees) don't overpower small order frequency counts (1 to 10 orders). </a:t>
            </a:r>
          </a:p>
          <a:p>
            <a:pPr lvl="1">
              <a:lnSpc>
                <a:spcPct val="150000"/>
              </a:lnSpc>
            </a:pPr>
            <a:r>
              <a:rPr lang="en-IN" b="1" dirty="0">
                <a:solidFill>
                  <a:srgbClr val="F8F0E6"/>
                </a:solidFill>
                <a:latin typeface="Nunito"/>
              </a:rPr>
              <a:t>4. Sentiment Classification Logic:</a:t>
            </a:r>
            <a:endParaRPr lang="en-IN" dirty="0">
              <a:solidFill>
                <a:srgbClr val="F8F0E6"/>
              </a:solidFill>
              <a:latin typeface="Nunito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8F0E6"/>
                </a:solidFill>
                <a:latin typeface="Nunito"/>
              </a:rPr>
              <a:t>Rules-based text &amp; rating mapping that classifies reviews into </a:t>
            </a:r>
            <a:r>
              <a:rPr lang="en-IN" i="1" dirty="0">
                <a:solidFill>
                  <a:srgbClr val="F8F0E6"/>
                </a:solidFill>
                <a:latin typeface="Nunito"/>
              </a:rPr>
              <a:t>Positive, Neutral, or Negative</a:t>
            </a:r>
            <a:r>
              <a:rPr lang="en-IN" dirty="0">
                <a:solidFill>
                  <a:srgbClr val="F8F0E6"/>
                </a:solidFill>
                <a:latin typeface="Nunito"/>
              </a:rPr>
              <a:t> to detect dissatisfaction drivers.</a:t>
            </a:r>
          </a:p>
        </p:txBody>
      </p:sp>
    </p:spTree>
    <p:extLst>
      <p:ext uri="{BB962C8B-B14F-4D97-AF65-F5344CB8AC3E}">
        <p14:creationId xmlns:p14="http://schemas.microsoft.com/office/powerpoint/2010/main" val="722710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3452" y="751561"/>
            <a:ext cx="3575261" cy="27432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75263" y="2913085"/>
            <a:ext cx="2219498" cy="2743200"/>
          </a:xfrm>
          <a:custGeom>
            <a:avLst/>
            <a:gdLst/>
            <a:ahLst/>
            <a:cxnLst/>
            <a:rect l="l" t="t" r="r" b="b"/>
            <a:pathLst>
              <a:path w="3329247" h="4114800">
                <a:moveTo>
                  <a:pt x="0" y="0"/>
                </a:moveTo>
                <a:lnTo>
                  <a:pt x="3329247" y="0"/>
                </a:lnTo>
                <a:lnTo>
                  <a:pt x="332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77774" y="2123162"/>
            <a:ext cx="5636453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sz="10368" dirty="0">
                <a:solidFill>
                  <a:srgbClr val="184549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flipV="1">
            <a:off x="-227243" y="-126690"/>
            <a:ext cx="2873188" cy="2743200"/>
          </a:xfrm>
          <a:custGeom>
            <a:avLst/>
            <a:gdLst/>
            <a:ahLst/>
            <a:cxnLst/>
            <a:rect l="l" t="t" r="r" b="b"/>
            <a:pathLst>
              <a:path w="4309782" h="4114800">
                <a:moveTo>
                  <a:pt x="0" y="4114800"/>
                </a:moveTo>
                <a:lnTo>
                  <a:pt x="4309782" y="4114800"/>
                </a:lnTo>
                <a:lnTo>
                  <a:pt x="4309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noFill/>
        </p:spPr>
      </p:sp>
      <p:sp>
        <p:nvSpPr>
          <p:cNvPr id="7" name="Freeform 7"/>
          <p:cNvSpPr/>
          <p:nvPr/>
        </p:nvSpPr>
        <p:spPr>
          <a:xfrm flipH="1">
            <a:off x="9527076" y="4064432"/>
            <a:ext cx="3034845" cy="2897543"/>
          </a:xfrm>
          <a:custGeom>
            <a:avLst/>
            <a:gdLst/>
            <a:ahLst/>
            <a:cxnLst/>
            <a:rect l="l" t="t" r="r" b="b"/>
            <a:pathLst>
              <a:path w="4552267" h="4346314">
                <a:moveTo>
                  <a:pt x="4552266" y="0"/>
                </a:moveTo>
                <a:lnTo>
                  <a:pt x="0" y="0"/>
                </a:lnTo>
                <a:lnTo>
                  <a:pt x="0" y="4346314"/>
                </a:lnTo>
                <a:lnTo>
                  <a:pt x="4552266" y="4346314"/>
                </a:lnTo>
                <a:lnTo>
                  <a:pt x="4552266" y="0"/>
                </a:lnTo>
                <a:close/>
              </a:path>
            </a:pathLst>
          </a:custGeom>
          <a:noFill/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5FBFC-896C-00B0-15B3-FB34553EC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035" y="0"/>
            <a:ext cx="1596965" cy="800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1108</Words>
  <Application>Microsoft Office PowerPoint</Application>
  <PresentationFormat>Widescreen</PresentationFormat>
  <Paragraphs>199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Calibri Light</vt:lpstr>
      <vt:lpstr>Nunito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Kundana Mani B</cp:lastModifiedBy>
  <cp:revision>39</cp:revision>
  <dcterms:created xsi:type="dcterms:W3CDTF">2026-08-08T06:33:56Z</dcterms:created>
  <dcterms:modified xsi:type="dcterms:W3CDTF">2026-10-28T05:36:26Z</dcterms:modified>
</cp:coreProperties>
</file>