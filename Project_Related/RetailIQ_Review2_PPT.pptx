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62" r:id="rId3"/>
    <p:sldId id="707" r:id="rId4"/>
    <p:sldId id="904" r:id="rId5"/>
    <p:sldId id="270" r:id="rId6"/>
    <p:sldId id="263" r:id="rId7"/>
    <p:sldId id="272" r:id="rId8"/>
    <p:sldId id="907" r:id="rId9"/>
    <p:sldId id="908" r:id="rId10"/>
    <p:sldId id="261" r:id="rId11"/>
    <p:sldId id="905" r:id="rId12"/>
    <p:sldId id="906" r:id="rId13"/>
    <p:sldId id="264" r:id="rId14"/>
    <p:sldId id="909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0E6"/>
    <a:srgbClr val="21575B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455749" y="1599119"/>
            <a:ext cx="7280501" cy="707886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2000" dirty="0">
              <a:solidFill>
                <a:srgbClr val="21575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dirty="0">
                <a:solidFill>
                  <a:srgbClr val="2157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End-to-End E-Commerce Customer and Sales Analytics Platform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655020"/>
              </p:ext>
            </p:extLst>
          </p:nvPr>
        </p:nvGraphicFramePr>
        <p:xfrm>
          <a:off x="8193271" y="4898509"/>
          <a:ext cx="370205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21575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7: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B. Kundana Mani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Number: 2420030558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M. Sai Kridhay Kumar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Number: 2420030211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21575B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647433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21575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N. Sunanda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21575B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21575B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21575B"/>
                </a:solidFill>
              </a:endParaRPr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Date: 11 September 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Data Science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21575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693212" y="703952"/>
            <a:ext cx="107156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6000" dirty="0" err="1">
                <a:solidFill>
                  <a:srgbClr val="F8F0E6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RetailIQ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8F0E6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54040" y="2909937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Project Review-2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5DEFE2-C3D6-4078-AAA0-841954C9B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330" y="-51945"/>
            <a:ext cx="1444670" cy="72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21575B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703784" y="1368625"/>
            <a:ext cx="6784432" cy="4438977"/>
            <a:chOff x="1929643" y="1656655"/>
            <a:chExt cx="6784432" cy="4438977"/>
          </a:xfrm>
          <a:solidFill>
            <a:srgbClr val="21575B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grpFill/>
            <a:ln w="19050">
              <a:solidFill>
                <a:srgbClr val="F8F0E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grpFill/>
            <a:ln w="19050">
              <a:solidFill>
                <a:srgbClr val="F8F0E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grpFill/>
            <a:ln w="19050">
              <a:solidFill>
                <a:srgbClr val="F8F0E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grpFill/>
            <a:ln w="19050">
              <a:solidFill>
                <a:srgbClr val="F8F0E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grpFill/>
            <a:ln w="19050">
              <a:solidFill>
                <a:srgbClr val="F8F0E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grpFill/>
            <a:ln w="19050" cap="flat" cmpd="sng" algn="ctr">
              <a:solidFill>
                <a:srgbClr val="F8F0E6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grpFill/>
            <a:ln w="19050" cap="flat" cmpd="sng" algn="ctr">
              <a:solidFill>
                <a:srgbClr val="F8F0E6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Problem Statement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grpFill/>
            <a:ln w="19050">
              <a:solidFill>
                <a:srgbClr val="F8F0E6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48A5F75-C836-9F1E-1DB7-4323DC1758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330" y="-51945"/>
            <a:ext cx="1444670" cy="724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90799" y="-1787384"/>
            <a:ext cx="8437755" cy="4405261"/>
            <a:chOff x="0" y="0"/>
            <a:chExt cx="3333434" cy="1740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33434" cy="1740350"/>
            </a:xfrm>
            <a:custGeom>
              <a:avLst/>
              <a:gdLst/>
              <a:ahLst/>
              <a:cxnLst/>
              <a:rect l="l" t="t" r="r" b="b"/>
              <a:pathLst>
                <a:path w="3333434" h="1740350">
                  <a:moveTo>
                    <a:pt x="31196" y="0"/>
                  </a:moveTo>
                  <a:lnTo>
                    <a:pt x="3302238" y="0"/>
                  </a:lnTo>
                  <a:cubicBezTo>
                    <a:pt x="3319467" y="0"/>
                    <a:pt x="3333434" y="13967"/>
                    <a:pt x="3333434" y="31196"/>
                  </a:cubicBezTo>
                  <a:lnTo>
                    <a:pt x="3333434" y="1709154"/>
                  </a:lnTo>
                  <a:cubicBezTo>
                    <a:pt x="3333434" y="1726383"/>
                    <a:pt x="3319467" y="1740350"/>
                    <a:pt x="3302238" y="1740350"/>
                  </a:cubicBezTo>
                  <a:lnTo>
                    <a:pt x="31196" y="1740350"/>
                  </a:lnTo>
                  <a:cubicBezTo>
                    <a:pt x="13967" y="1740350"/>
                    <a:pt x="0" y="1726383"/>
                    <a:pt x="0" y="1709154"/>
                  </a:cubicBezTo>
                  <a:lnTo>
                    <a:pt x="0" y="31196"/>
                  </a:lnTo>
                  <a:cubicBezTo>
                    <a:pt x="0" y="13967"/>
                    <a:pt x="13967" y="0"/>
                    <a:pt x="31196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33434" cy="1787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7" name="Freeform 7"/>
          <p:cNvSpPr/>
          <p:nvPr/>
        </p:nvSpPr>
        <p:spPr>
          <a:xfrm>
            <a:off x="4034092" y="3610636"/>
            <a:ext cx="3183038" cy="2743200"/>
          </a:xfrm>
          <a:custGeom>
            <a:avLst/>
            <a:gdLst/>
            <a:ahLst/>
            <a:cxnLst/>
            <a:rect l="l" t="t" r="r" b="b"/>
            <a:pathLst>
              <a:path w="4774557" h="4114800">
                <a:moveTo>
                  <a:pt x="0" y="0"/>
                </a:moveTo>
                <a:lnTo>
                  <a:pt x="4774557" y="0"/>
                </a:lnTo>
                <a:lnTo>
                  <a:pt x="47745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03200" y="127000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569451" y="944756"/>
            <a:ext cx="4480449" cy="705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F8F0E6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INTRODUCTION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90799" y="2633019"/>
            <a:ext cx="8178802" cy="4097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 err="1">
                <a:latin typeface="Nunito" panose="020B0604020202020204" charset="0"/>
                <a:cs typeface="Times New Roman" panose="02020603050405020304" pitchFamily="18" charset="0"/>
              </a:rPr>
              <a:t>RetailIQ</a:t>
            </a: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 is a full-cycle e-commerce analytics project focused on understanding customer behaviour and overall sales performance using retail transaction data.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Analyses customer, product, sales and revenue data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Performs data cleaning and preprocessing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Uses Exploratory Data Analysis (EDA) to identify patterns and trends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Applies statistical analysis and visualization techniques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Provides an interactive dashboard for business monitoring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Nunito" panose="020B0604020202020204" charset="0"/>
                <a:cs typeface="Times New Roman" panose="02020603050405020304" pitchFamily="18" charset="0"/>
              </a:rPr>
              <a:t>Converts raw transaction data into meaningful business insights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EE4A9B-1A81-C68E-46C6-31FEED1387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3" y="-45245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7D2C5A33-08A0-81E2-3B4D-76D4FA5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3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80518-6BDF-7EA6-E431-5F10AB47A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2B46002-ABA7-DA70-D4BA-A0C3DC8C85B7}"/>
              </a:ext>
            </a:extLst>
          </p:cNvPr>
          <p:cNvGrpSpPr/>
          <p:nvPr/>
        </p:nvGrpSpPr>
        <p:grpSpPr>
          <a:xfrm>
            <a:off x="0" y="1740188"/>
            <a:ext cx="12192000" cy="4381212"/>
            <a:chOff x="0" y="0"/>
            <a:chExt cx="4816593" cy="156694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893A0FB-5A0A-2AA4-2579-D6FBF5EB6A66}"/>
                </a:ext>
              </a:extLst>
            </p:cNvPr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73F9F33-62E6-4419-0B0D-F7ADB451DFEE}"/>
                </a:ext>
              </a:extLst>
            </p:cNvPr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4AC0B688-BFB1-DC8B-FCD6-23F00A9DB761}"/>
              </a:ext>
            </a:extLst>
          </p:cNvPr>
          <p:cNvSpPr txBox="1"/>
          <p:nvPr/>
        </p:nvSpPr>
        <p:spPr>
          <a:xfrm>
            <a:off x="3297716" y="501487"/>
            <a:ext cx="6259286" cy="702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PROBLEM STATEMENT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BE61EFA-DAA1-816C-5404-C03C159E9EF0}"/>
              </a:ext>
            </a:extLst>
          </p:cNvPr>
          <p:cNvSpPr txBox="1"/>
          <p:nvPr/>
        </p:nvSpPr>
        <p:spPr>
          <a:xfrm>
            <a:off x="1014128" y="1829791"/>
            <a:ext cx="10038387" cy="387824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E-commerce businesses generate large volumes of transaction data, but raw data is difficult to interpret and use for decision-making.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Customer purchasing patterns are difficult to identify.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Product and category performance is not easily compared.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Sales and revenue trends can be hidden within large datasets.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Identifying valuable customer segments requires detailed analysis.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Manual analysis of transaction data is time-consuming.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Businesses need a centralized view of important performance metrics.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1C873D-934F-4EFE-59D9-B2D34397D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4147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C2B1BA4-C787-1C75-A46D-CC0384D81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4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5555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753" y="974823"/>
            <a:ext cx="12192000" cy="5701506"/>
            <a:chOff x="0" y="-47625"/>
            <a:chExt cx="4816593" cy="16145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826000" y="181671"/>
            <a:ext cx="5305235" cy="702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OBJECTIVES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8E37ED-6D60-C5C9-1C32-65458745B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F3B1876-2D8B-2958-C0ED-0D2DA444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39363F-5256-208C-10E5-9C22F052BDC5}"/>
              </a:ext>
            </a:extLst>
          </p:cNvPr>
          <p:cNvSpPr txBox="1"/>
          <p:nvPr/>
        </p:nvSpPr>
        <p:spPr>
          <a:xfrm>
            <a:off x="1512950" y="1110382"/>
            <a:ext cx="9136589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8F0E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Analysis</a:t>
            </a:r>
            <a:r>
              <a:rPr lang="en-IN" sz="2400" dirty="0">
                <a:solidFill>
                  <a:srgbClr val="F8F0E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Understand customer purchasing behaviour and spending patterns.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8F0E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Analysis</a:t>
            </a:r>
            <a:r>
              <a:rPr lang="en-IN" sz="2400" dirty="0">
                <a:solidFill>
                  <a:srgbClr val="F8F0E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Identify top-performing and low-performing products.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8F0E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Analysis</a:t>
            </a:r>
            <a:r>
              <a:rPr lang="en-IN" sz="2400" dirty="0">
                <a:solidFill>
                  <a:srgbClr val="F8F0E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Analyse sales trends across different time periods.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8F0E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Analysis</a:t>
            </a:r>
            <a:r>
              <a:rPr lang="en-IN" sz="2400" dirty="0">
                <a:solidFill>
                  <a:srgbClr val="F8F0E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Identify major contributors to overall revenue.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8F0E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</a:t>
            </a:r>
            <a:r>
              <a:rPr lang="en-IN" sz="2400" dirty="0">
                <a:solidFill>
                  <a:srgbClr val="F8F0E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Group customers based on their purchasing behaviour.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8F0E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Development</a:t>
            </a:r>
            <a:r>
              <a:rPr lang="en-IN" sz="2400" dirty="0">
                <a:solidFill>
                  <a:srgbClr val="F8F0E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Present important metrics and insights through an interactive dashboard.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76F63-3A69-F794-40F8-6EFB130A4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7964C7D-E22E-7435-728F-EADE719EB431}"/>
              </a:ext>
            </a:extLst>
          </p:cNvPr>
          <p:cNvGrpSpPr/>
          <p:nvPr/>
        </p:nvGrpSpPr>
        <p:grpSpPr>
          <a:xfrm>
            <a:off x="0" y="2180911"/>
            <a:ext cx="12192000" cy="3966335"/>
            <a:chOff x="0" y="0"/>
            <a:chExt cx="4816593" cy="156694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74527BF-BF5C-63BC-821D-DEB21B2ED8C5}"/>
                </a:ext>
              </a:extLst>
            </p:cNvPr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F844B2D-2E48-391E-15F6-F704E79A890E}"/>
                </a:ext>
              </a:extLst>
            </p:cNvPr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F438601F-27D8-9CE2-9494-13CAD2F399F0}"/>
              </a:ext>
            </a:extLst>
          </p:cNvPr>
          <p:cNvSpPr txBox="1"/>
          <p:nvPr/>
        </p:nvSpPr>
        <p:spPr>
          <a:xfrm>
            <a:off x="3254825" y="616422"/>
            <a:ext cx="6596743" cy="705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EXPECTED OUTCOMES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CD6B97-17BA-B4CC-A18C-2487200E74AB}"/>
              </a:ext>
            </a:extLst>
          </p:cNvPr>
          <p:cNvSpPr txBox="1"/>
          <p:nvPr/>
        </p:nvSpPr>
        <p:spPr>
          <a:xfrm>
            <a:off x="2556268" y="2224958"/>
            <a:ext cx="10038387" cy="3878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Clean and structured retail transaction dataset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Identification of important customer purchasing patterns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Identification of high-performing products and categories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Analysis of sales and revenue trends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Meaningful customer segments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Interactive visualization of key business metrics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Centralized dashboard for easier interpretation </a:t>
            </a:r>
          </a:p>
          <a:p>
            <a:pPr marL="304815" indent="-30481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33" dirty="0">
                <a:solidFill>
                  <a:schemeClr val="bg2"/>
                </a:solidFill>
                <a:latin typeface="Nunito" panose="020B0604020202020204" charset="0"/>
              </a:rPr>
              <a:t>Insights to support data-driven decision-making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FEAB37-9F83-08B7-98E0-4FE6B5485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4147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FA63DC3-2AB3-E4DE-D328-7DF8EDB30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2768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DE2EA6-8A77-E343-A795-B7C2E093E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9AFD507-FC0D-7DB0-7757-90C3EFDA8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703691"/>
              </p:ext>
            </p:extLst>
          </p:nvPr>
        </p:nvGraphicFramePr>
        <p:xfrm>
          <a:off x="716240" y="1456005"/>
          <a:ext cx="10528965" cy="50316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5793">
                  <a:extLst>
                    <a:ext uri="{9D8B030D-6E8A-4147-A177-3AD203B41FA5}">
                      <a16:colId xmlns:a16="http://schemas.microsoft.com/office/drawing/2014/main" val="1646668700"/>
                    </a:ext>
                  </a:extLst>
                </a:gridCol>
                <a:gridCol w="2105793">
                  <a:extLst>
                    <a:ext uri="{9D8B030D-6E8A-4147-A177-3AD203B41FA5}">
                      <a16:colId xmlns:a16="http://schemas.microsoft.com/office/drawing/2014/main" val="744980959"/>
                    </a:ext>
                  </a:extLst>
                </a:gridCol>
                <a:gridCol w="2105793">
                  <a:extLst>
                    <a:ext uri="{9D8B030D-6E8A-4147-A177-3AD203B41FA5}">
                      <a16:colId xmlns:a16="http://schemas.microsoft.com/office/drawing/2014/main" val="2490900807"/>
                    </a:ext>
                  </a:extLst>
                </a:gridCol>
                <a:gridCol w="2105793">
                  <a:extLst>
                    <a:ext uri="{9D8B030D-6E8A-4147-A177-3AD203B41FA5}">
                      <a16:colId xmlns:a16="http://schemas.microsoft.com/office/drawing/2014/main" val="62529343"/>
                    </a:ext>
                  </a:extLst>
                </a:gridCol>
                <a:gridCol w="2105793">
                  <a:extLst>
                    <a:ext uri="{9D8B030D-6E8A-4147-A177-3AD203B41FA5}">
                      <a16:colId xmlns:a16="http://schemas.microsoft.com/office/drawing/2014/main" val="2886649303"/>
                    </a:ext>
                  </a:extLst>
                </a:gridCol>
              </a:tblGrid>
              <a:tr h="8004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8F0E6"/>
                          </a:solidFill>
                        </a:rPr>
                        <a:t>Authors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8F0E6"/>
                          </a:solidFill>
                        </a:rPr>
                        <a:t>Title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8F0E6"/>
                          </a:solidFill>
                        </a:rPr>
                        <a:t>Methodology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8F0E6"/>
                          </a:solidFill>
                        </a:rPr>
                        <a:t>Inferences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F8F0E6"/>
                          </a:solidFill>
                        </a:rPr>
                        <a:t>Limitation / Future Work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7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297577"/>
                  </a:ext>
                </a:extLst>
              </a:tr>
              <a:tr h="1143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</a:rPr>
                        <a:t>Chen et al. (2012)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</a:rPr>
                        <a:t>Data Mining for Online Retail Industry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21575B"/>
                          </a:solidFill>
                        </a:rPr>
                        <a:t>RFM, K-Means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21575B"/>
                          </a:solidFill>
                        </a:rPr>
                        <a:t>Effective customer segmentation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21575B"/>
                          </a:solidFill>
                        </a:rPr>
                        <a:t>Mainly customer-focused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436694"/>
                  </a:ext>
                </a:extLst>
              </a:tr>
              <a:tr h="1143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</a:rPr>
                        <a:t>Hong &amp; Kim (2012)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</a:rPr>
                        <a:t>Customer Segmentation in Online Stores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21575B"/>
                          </a:solidFill>
                        </a:rPr>
                        <a:t>SOM, K-Means, KNN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21575B"/>
                          </a:solidFill>
                        </a:rPr>
                        <a:t>Identifies customer groups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21575B"/>
                          </a:solidFill>
                        </a:rPr>
                        <a:t>Limited business-wide analysis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751319"/>
                  </a:ext>
                </a:extLst>
              </a:tr>
              <a:tr h="800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</a:rPr>
                        <a:t>Griva et al. (2018)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</a:rPr>
                        <a:t>Retail Business Analytics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</a:rPr>
                        <a:t>Market Basket, Clustering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21575B"/>
                          </a:solidFill>
                        </a:rPr>
                        <a:t>Identifies shopping patterns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21575B"/>
                          </a:solidFill>
                        </a:rPr>
                        <a:t>Focuses mainly on customer visits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548957"/>
                  </a:ext>
                </a:extLst>
              </a:tr>
              <a:tr h="1143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</a:rPr>
                        <a:t>Wong et al. (2024)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21575B"/>
                          </a:solidFill>
                        </a:rPr>
                        <a:t>Customer Segmentation in E-Commerce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</a:rPr>
                        <a:t>RFM, Clustering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</a:rPr>
                        <a:t>Identifies valuable customer groups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21575B"/>
                          </a:solidFill>
                        </a:rPr>
                        <a:t>Mainly segmentation-focused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30321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F3B9D7C-4B0D-3661-1124-31336E86EF03}"/>
              </a:ext>
            </a:extLst>
          </p:cNvPr>
          <p:cNvSpPr txBox="1"/>
          <p:nvPr/>
        </p:nvSpPr>
        <p:spPr>
          <a:xfrm>
            <a:off x="3780121" y="400216"/>
            <a:ext cx="5296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77A9A77-2E95-7B8A-83AA-66F27073E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5564" y="6424563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952491"/>
            <a:ext cx="12192000" cy="3966335"/>
            <a:chOff x="0" y="0"/>
            <a:chExt cx="4816593" cy="15669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566947"/>
            </a:xfrm>
            <a:custGeom>
              <a:avLst/>
              <a:gdLst/>
              <a:ahLst/>
              <a:cxnLst/>
              <a:rect l="l" t="t" r="r" b="b"/>
              <a:pathLst>
                <a:path w="4816592" h="1566947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1524614"/>
                  </a:lnTo>
                  <a:cubicBezTo>
                    <a:pt x="4816592" y="1535841"/>
                    <a:pt x="4812132" y="1546609"/>
                    <a:pt x="4804193" y="1554548"/>
                  </a:cubicBezTo>
                  <a:cubicBezTo>
                    <a:pt x="4796254" y="1562487"/>
                    <a:pt x="4785487" y="1566947"/>
                    <a:pt x="4774259" y="1566947"/>
                  </a:cubicBezTo>
                  <a:lnTo>
                    <a:pt x="42333" y="1566947"/>
                  </a:lnTo>
                  <a:cubicBezTo>
                    <a:pt x="31106" y="1566947"/>
                    <a:pt x="20338" y="1562487"/>
                    <a:pt x="12399" y="1554548"/>
                  </a:cubicBezTo>
                  <a:cubicBezTo>
                    <a:pt x="4460" y="1546609"/>
                    <a:pt x="0" y="1535841"/>
                    <a:pt x="0" y="1524614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161457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1285074" y="685800"/>
            <a:ext cx="1475342" cy="2163835"/>
          </a:xfrm>
          <a:custGeom>
            <a:avLst/>
            <a:gdLst/>
            <a:ahLst/>
            <a:cxnLst/>
            <a:rect l="l" t="t" r="r" b="b"/>
            <a:pathLst>
              <a:path w="2213013" h="3245752">
                <a:moveTo>
                  <a:pt x="0" y="0"/>
                </a:moveTo>
                <a:lnTo>
                  <a:pt x="2213013" y="0"/>
                </a:lnTo>
                <a:lnTo>
                  <a:pt x="2213013" y="3245752"/>
                </a:lnTo>
                <a:lnTo>
                  <a:pt x="0" y="32457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195409" y="2451152"/>
            <a:ext cx="2057400" cy="2177951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2333"/>
              </a:lnSpc>
            </a:pPr>
            <a:endParaRPr sz="12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CBDC25-10A6-B301-9C59-6954036DC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196" y="-15255"/>
            <a:ext cx="1596965" cy="800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oup 6">
            <a:extLst>
              <a:ext uri="{FF2B5EF4-FFF2-40B4-BE49-F238E27FC236}">
                <a16:creationId xmlns:a16="http://schemas.microsoft.com/office/drawing/2014/main" id="{C9718B00-3582-EB29-6FCB-FC4BC905322E}"/>
              </a:ext>
            </a:extLst>
          </p:cNvPr>
          <p:cNvGrpSpPr/>
          <p:nvPr/>
        </p:nvGrpSpPr>
        <p:grpSpPr>
          <a:xfrm>
            <a:off x="816625" y="1486233"/>
            <a:ext cx="5182890" cy="5152360"/>
            <a:chOff x="0" y="0"/>
            <a:chExt cx="812800" cy="8128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CB7D55BA-37D1-BAA8-8340-9AFB55BE67F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1E5D7"/>
            </a:solidFill>
          </p:spPr>
        </p:sp>
        <p:sp>
          <p:nvSpPr>
            <p:cNvPr id="12" name="TextBox 8">
              <a:extLst>
                <a:ext uri="{FF2B5EF4-FFF2-40B4-BE49-F238E27FC236}">
                  <a16:creationId xmlns:a16="http://schemas.microsoft.com/office/drawing/2014/main" id="{6EAC9792-011F-B4ED-07F9-3BA949C3935F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69DB53F-F016-0FC2-8847-C437AEB58A73}"/>
              </a:ext>
            </a:extLst>
          </p:cNvPr>
          <p:cNvSpPr txBox="1"/>
          <p:nvPr/>
        </p:nvSpPr>
        <p:spPr>
          <a:xfrm>
            <a:off x="1041346" y="1864967"/>
            <a:ext cx="473344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000" b="1" dirty="0"/>
              <a:t>Existing Focus</a:t>
            </a:r>
          </a:p>
          <a:p>
            <a:pPr lvl="0" algn="just"/>
            <a:r>
              <a:rPr lang="en-IN" sz="2000" b="1" dirty="0"/>
              <a:t>Customer Segmentation</a:t>
            </a:r>
            <a:r>
              <a:rPr lang="en-IN" sz="2000" dirty="0"/>
              <a:t> – grouping customers based on their purchasing behaviour. </a:t>
            </a:r>
          </a:p>
          <a:p>
            <a:pPr lvl="0" algn="just"/>
            <a:r>
              <a:rPr lang="en-IN" sz="2000" b="1" dirty="0"/>
              <a:t>RFM Analysis</a:t>
            </a:r>
            <a:r>
              <a:rPr lang="en-IN" sz="2000" dirty="0"/>
              <a:t> – evaluating customers using Recency, Frequency and Monetary value. </a:t>
            </a:r>
          </a:p>
          <a:p>
            <a:pPr lvl="0" algn="just"/>
            <a:r>
              <a:rPr lang="en-IN" sz="2000" b="1" dirty="0"/>
              <a:t>Purchase Behaviour</a:t>
            </a:r>
            <a:r>
              <a:rPr lang="en-IN" sz="2000" dirty="0"/>
              <a:t> – analysing what, when and how frequently customers purchase. </a:t>
            </a:r>
          </a:p>
          <a:p>
            <a:pPr lvl="0" algn="just"/>
            <a:r>
              <a:rPr lang="en-IN" sz="2000" b="1" dirty="0"/>
              <a:t>Market Basket Analysis</a:t>
            </a:r>
            <a:r>
              <a:rPr lang="en-IN" sz="2000" dirty="0"/>
              <a:t> – identifying products that are frequently purchased together. </a:t>
            </a:r>
          </a:p>
          <a:p>
            <a:pPr lvl="0" algn="just"/>
            <a:r>
              <a:rPr lang="en-IN" sz="2000" b="1" dirty="0"/>
              <a:t>Sales Analysis</a:t>
            </a:r>
            <a:r>
              <a:rPr lang="en-IN" sz="2000" dirty="0"/>
              <a:t> – analysing sales performance and trends.</a:t>
            </a:r>
          </a:p>
          <a:p>
            <a:pPr algn="just">
              <a:buNone/>
            </a:pPr>
            <a:endParaRPr lang="en-IN" sz="2000" b="1" dirty="0"/>
          </a:p>
        </p:txBody>
      </p:sp>
      <p:grpSp>
        <p:nvGrpSpPr>
          <p:cNvPr id="15" name="Group 6">
            <a:extLst>
              <a:ext uri="{FF2B5EF4-FFF2-40B4-BE49-F238E27FC236}">
                <a16:creationId xmlns:a16="http://schemas.microsoft.com/office/drawing/2014/main" id="{735824CE-F923-CC72-DF51-776CA8B47BC4}"/>
              </a:ext>
            </a:extLst>
          </p:cNvPr>
          <p:cNvGrpSpPr/>
          <p:nvPr/>
        </p:nvGrpSpPr>
        <p:grpSpPr>
          <a:xfrm>
            <a:off x="6604663" y="1245670"/>
            <a:ext cx="5182890" cy="5454255"/>
            <a:chOff x="0" y="-47625"/>
            <a:chExt cx="812800" cy="860425"/>
          </a:xfrm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1E4CA683-0A26-0A6F-42C5-38AE8AA2FC87}"/>
                </a:ext>
              </a:extLst>
            </p:cNvPr>
            <p:cNvSpPr/>
            <p:nvPr/>
          </p:nvSpPr>
          <p:spPr>
            <a:xfrm>
              <a:off x="0" y="-9675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F1E5D7"/>
            </a:solidFill>
          </p:spPr>
        </p:sp>
        <p:sp>
          <p:nvSpPr>
            <p:cNvPr id="18" name="TextBox 8">
              <a:extLst>
                <a:ext uri="{FF2B5EF4-FFF2-40B4-BE49-F238E27FC236}">
                  <a16:creationId xmlns:a16="http://schemas.microsoft.com/office/drawing/2014/main" id="{655CB9CD-D801-7EC9-72DB-558AFBFA6BA8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A98BF91-8B59-5DA8-09A4-7C548D085871}"/>
              </a:ext>
            </a:extLst>
          </p:cNvPr>
          <p:cNvSpPr txBox="1"/>
          <p:nvPr/>
        </p:nvSpPr>
        <p:spPr>
          <a:xfrm>
            <a:off x="6805028" y="1751487"/>
            <a:ext cx="489556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000" b="1" dirty="0"/>
              <a:t>Identified Gap</a:t>
            </a:r>
          </a:p>
          <a:p>
            <a:pPr algn="just">
              <a:buNone/>
            </a:pPr>
            <a:r>
              <a:rPr lang="en-IN" sz="2000" dirty="0"/>
              <a:t>Most approaches focus on </a:t>
            </a:r>
            <a:r>
              <a:rPr lang="en-IN" sz="2000" b="1" dirty="0"/>
              <a:t>specific aspects of e-commerce analytics</a:t>
            </a:r>
            <a:r>
              <a:rPr lang="en-IN" sz="2000" dirty="0"/>
              <a:t> rather than providing a unified view of the complete business.</a:t>
            </a:r>
          </a:p>
          <a:p>
            <a:pPr algn="just">
              <a:buNone/>
            </a:pPr>
            <a:r>
              <a:rPr lang="en-IN" sz="2000" dirty="0"/>
              <a:t>There is a need to integrate:</a:t>
            </a:r>
          </a:p>
          <a:p>
            <a:pPr algn="just">
              <a:buNone/>
            </a:pPr>
            <a:r>
              <a:rPr lang="en-IN" sz="2000" b="1" dirty="0"/>
              <a:t>Customer Behaviour + Product Performance + Sales + Revenue</a:t>
            </a:r>
          </a:p>
          <a:p>
            <a:pPr algn="just">
              <a:buNone/>
            </a:pPr>
            <a:endParaRPr lang="en-IN" sz="2000" dirty="0"/>
          </a:p>
          <a:p>
            <a:pPr algn="just">
              <a:buNone/>
            </a:pPr>
            <a:r>
              <a:rPr lang="en-IN" sz="2000" b="1" dirty="0" err="1"/>
              <a:t>RetailIQ</a:t>
            </a:r>
            <a:endParaRPr lang="en-IN" sz="2000" b="1" dirty="0"/>
          </a:p>
          <a:p>
            <a:pPr algn="just">
              <a:buNone/>
            </a:pPr>
            <a:r>
              <a:rPr lang="en-IN" sz="2000" dirty="0" err="1"/>
              <a:t>RetailIQ</a:t>
            </a:r>
            <a:r>
              <a:rPr lang="en-IN" sz="2000" dirty="0"/>
              <a:t> addresses this gap by bringing these analytical aspects together and presenting the results through visualization and an interactive dashboard.</a:t>
            </a:r>
          </a:p>
          <a:p>
            <a:pPr algn="just">
              <a:buNone/>
            </a:pPr>
            <a:r>
              <a:rPr lang="en-IN" sz="2000" b="1" dirty="0"/>
              <a:t>Transaction Data → Data Analysis → Visualization → Business Insights</a:t>
            </a:r>
            <a:endParaRPr lang="en-IN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91FE29-B2AC-A904-FE35-7038C6BE8D4B}"/>
              </a:ext>
            </a:extLst>
          </p:cNvPr>
          <p:cNvSpPr txBox="1"/>
          <p:nvPr/>
        </p:nvSpPr>
        <p:spPr>
          <a:xfrm>
            <a:off x="2614384" y="561295"/>
            <a:ext cx="79805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GAP IDENTIFICATION</a:t>
            </a:r>
          </a:p>
        </p:txBody>
      </p:sp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D670CA50-0A3E-9DBE-13D0-F1D9F2EC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3264" y="6208823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-1930400" y="-685800"/>
            <a:ext cx="7620000" cy="79756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6" name="Freeform 16"/>
          <p:cNvSpPr/>
          <p:nvPr/>
        </p:nvSpPr>
        <p:spPr>
          <a:xfrm rot="2968473">
            <a:off x="8489531" y="1496407"/>
            <a:ext cx="4876800" cy="1505712"/>
          </a:xfrm>
          <a:custGeom>
            <a:avLst/>
            <a:gdLst/>
            <a:ahLst/>
            <a:cxnLst/>
            <a:rect l="l" t="t" r="r" b="b"/>
            <a:pathLst>
              <a:path w="7315200" h="2258568">
                <a:moveTo>
                  <a:pt x="0" y="0"/>
                </a:moveTo>
                <a:lnTo>
                  <a:pt x="7315200" y="0"/>
                </a:lnTo>
                <a:lnTo>
                  <a:pt x="7315200" y="2258568"/>
                </a:lnTo>
                <a:lnTo>
                  <a:pt x="0" y="2258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50963" y="2852970"/>
            <a:ext cx="4610498" cy="705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F8F0E6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INNOVATION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00079" y="1620492"/>
            <a:ext cx="5642516" cy="3617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+mj-lt"/>
              </a:rPr>
              <a:t>Integrated e-commerce analytics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+mj-lt"/>
              </a:rPr>
              <a:t>Customer behaviour analysis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+mj-lt"/>
              </a:rPr>
              <a:t>Product performance analysis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+mj-lt"/>
              </a:rPr>
              <a:t>Sales &amp; revenue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DE2EA6-8A77-E343-A795-B7C2E093E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B91B8BA-4986-9AB8-0D18-B9A3B709A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620A1-A6B2-85D0-AF7C-EDC09EF42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015B8532-4806-4EB6-E1C9-A40FEEAE54F7}"/>
              </a:ext>
            </a:extLst>
          </p:cNvPr>
          <p:cNvGrpSpPr/>
          <p:nvPr/>
        </p:nvGrpSpPr>
        <p:grpSpPr>
          <a:xfrm>
            <a:off x="-1930400" y="-685800"/>
            <a:ext cx="7620000" cy="7975600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4225801-304E-DE71-7F1C-BB38EA743E4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F1F6C17-6574-250B-C891-15BFB7C76BA4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223D18C9-89E7-6CD4-76D0-837B5D881A76}"/>
              </a:ext>
            </a:extLst>
          </p:cNvPr>
          <p:cNvSpPr/>
          <p:nvPr/>
        </p:nvSpPr>
        <p:spPr>
          <a:xfrm rot="2968473">
            <a:off x="8489531" y="1496407"/>
            <a:ext cx="4876800" cy="1505712"/>
          </a:xfrm>
          <a:custGeom>
            <a:avLst/>
            <a:gdLst/>
            <a:ahLst/>
            <a:cxnLst/>
            <a:rect l="l" t="t" r="r" b="b"/>
            <a:pathLst>
              <a:path w="7315200" h="2258568">
                <a:moveTo>
                  <a:pt x="0" y="0"/>
                </a:moveTo>
                <a:lnTo>
                  <a:pt x="7315200" y="0"/>
                </a:lnTo>
                <a:lnTo>
                  <a:pt x="7315200" y="2258568"/>
                </a:lnTo>
                <a:lnTo>
                  <a:pt x="0" y="2258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A43732D-7AEC-C541-95B7-7A7E860A2203}"/>
              </a:ext>
            </a:extLst>
          </p:cNvPr>
          <p:cNvSpPr txBox="1"/>
          <p:nvPr/>
        </p:nvSpPr>
        <p:spPr>
          <a:xfrm>
            <a:off x="950963" y="2852970"/>
            <a:ext cx="4610498" cy="705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F8F0E6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CREATIVITY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9CDEE9-436C-49F7-A92B-99243307CAED}"/>
              </a:ext>
            </a:extLst>
          </p:cNvPr>
          <p:cNvSpPr txBox="1"/>
          <p:nvPr/>
        </p:nvSpPr>
        <p:spPr>
          <a:xfrm>
            <a:off x="6200079" y="1989824"/>
            <a:ext cx="5642516" cy="2878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+mj-lt"/>
              </a:rPr>
              <a:t>Interactive dashboard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+mj-lt"/>
              </a:rPr>
              <a:t>Visual KPI representation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+mj-lt"/>
              </a:rPr>
              <a:t>Easy-to-understand business insights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12A12-EC05-C3F2-8F60-5B0D59536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A8E47C71-8D5C-B5DE-6340-2B7F7B1EA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7771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0F626-91E3-37B2-66B6-DF605D85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E89A5A7C-77DE-5207-8846-A4D46675C1E4}"/>
              </a:ext>
            </a:extLst>
          </p:cNvPr>
          <p:cNvGrpSpPr/>
          <p:nvPr/>
        </p:nvGrpSpPr>
        <p:grpSpPr>
          <a:xfrm>
            <a:off x="-1930400" y="-685800"/>
            <a:ext cx="7620000" cy="7975600"/>
            <a:chOff x="0" y="0"/>
            <a:chExt cx="812800" cy="8128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BA488FB-550D-0C83-9F31-8A94064538C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3CCE576-9B68-AE26-DD38-BAE20F320826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C7F6E251-A90A-F6E5-DF7B-0C4420758FCA}"/>
              </a:ext>
            </a:extLst>
          </p:cNvPr>
          <p:cNvSpPr/>
          <p:nvPr/>
        </p:nvSpPr>
        <p:spPr>
          <a:xfrm rot="2968473">
            <a:off x="8489531" y="1496407"/>
            <a:ext cx="4876800" cy="1505712"/>
          </a:xfrm>
          <a:custGeom>
            <a:avLst/>
            <a:gdLst/>
            <a:ahLst/>
            <a:cxnLst/>
            <a:rect l="l" t="t" r="r" b="b"/>
            <a:pathLst>
              <a:path w="7315200" h="2258568">
                <a:moveTo>
                  <a:pt x="0" y="0"/>
                </a:moveTo>
                <a:lnTo>
                  <a:pt x="7315200" y="0"/>
                </a:lnTo>
                <a:lnTo>
                  <a:pt x="7315200" y="2258568"/>
                </a:lnTo>
                <a:lnTo>
                  <a:pt x="0" y="2258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3A6F929-4057-03CE-7FDD-E154AB13EEE9}"/>
              </a:ext>
            </a:extLst>
          </p:cNvPr>
          <p:cNvSpPr txBox="1"/>
          <p:nvPr/>
        </p:nvSpPr>
        <p:spPr>
          <a:xfrm>
            <a:off x="1700119" y="2949179"/>
            <a:ext cx="4610498" cy="705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98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F8F0E6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NOVELTY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DE31CCA-2BD9-E37C-EFF1-19BA274A9A9C}"/>
              </a:ext>
            </a:extLst>
          </p:cNvPr>
          <p:cNvSpPr txBox="1"/>
          <p:nvPr/>
        </p:nvSpPr>
        <p:spPr>
          <a:xfrm>
            <a:off x="6403975" y="1989824"/>
            <a:ext cx="5642516" cy="2878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3200" b="1" dirty="0">
                <a:latin typeface="+mj-lt"/>
              </a:rPr>
              <a:t>Unified view of customer, product, sales and revenue information in one analytics platform.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A4C8D2-4904-55DC-12C5-27C87F565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28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C01DB2C-80B5-2672-20CC-416B8DC73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1138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3301688" y="211238"/>
            <a:ext cx="5927123" cy="702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FEASIBILITY</a:t>
            </a:r>
          </a:p>
        </p:txBody>
      </p:sp>
      <p:grpSp>
        <p:nvGrpSpPr>
          <p:cNvPr id="13" name="Group 8">
            <a:extLst>
              <a:ext uri="{FF2B5EF4-FFF2-40B4-BE49-F238E27FC236}">
                <a16:creationId xmlns:a16="http://schemas.microsoft.com/office/drawing/2014/main" id="{936BCF49-4CE7-2EF7-8E8D-AE4D82500F7D}"/>
              </a:ext>
            </a:extLst>
          </p:cNvPr>
          <p:cNvGrpSpPr/>
          <p:nvPr/>
        </p:nvGrpSpPr>
        <p:grpSpPr>
          <a:xfrm>
            <a:off x="1462581" y="1142022"/>
            <a:ext cx="4475056" cy="2743200"/>
            <a:chOff x="0" y="0"/>
            <a:chExt cx="2529707" cy="1740350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7A4B7BA6-FF7B-1CFA-4C07-C0B9320EB6F3}"/>
                </a:ext>
              </a:extLst>
            </p:cNvPr>
            <p:cNvSpPr/>
            <p:nvPr/>
          </p:nvSpPr>
          <p:spPr>
            <a:xfrm>
              <a:off x="0" y="0"/>
              <a:ext cx="2529707" cy="1740350"/>
            </a:xfrm>
            <a:custGeom>
              <a:avLst/>
              <a:gdLst/>
              <a:ahLst/>
              <a:cxnLst/>
              <a:rect l="l" t="t" r="r" b="b"/>
              <a:pathLst>
                <a:path w="2529707" h="1740350">
                  <a:moveTo>
                    <a:pt x="41108" y="0"/>
                  </a:moveTo>
                  <a:lnTo>
                    <a:pt x="2488599" y="0"/>
                  </a:lnTo>
                  <a:cubicBezTo>
                    <a:pt x="2499502" y="0"/>
                    <a:pt x="2509957" y="4331"/>
                    <a:pt x="2517667" y="12040"/>
                  </a:cubicBezTo>
                  <a:cubicBezTo>
                    <a:pt x="2525376" y="19749"/>
                    <a:pt x="2529707" y="30205"/>
                    <a:pt x="2529707" y="41108"/>
                  </a:cubicBezTo>
                  <a:lnTo>
                    <a:pt x="2529707" y="1699243"/>
                  </a:lnTo>
                  <a:cubicBezTo>
                    <a:pt x="2529707" y="1710145"/>
                    <a:pt x="2525376" y="1720601"/>
                    <a:pt x="2517667" y="1728310"/>
                  </a:cubicBezTo>
                  <a:cubicBezTo>
                    <a:pt x="2509957" y="1736019"/>
                    <a:pt x="2499502" y="1740350"/>
                    <a:pt x="2488599" y="1740350"/>
                  </a:cubicBezTo>
                  <a:lnTo>
                    <a:pt x="41108" y="1740350"/>
                  </a:lnTo>
                  <a:cubicBezTo>
                    <a:pt x="30205" y="1740350"/>
                    <a:pt x="19749" y="1736019"/>
                    <a:pt x="12040" y="1728310"/>
                  </a:cubicBezTo>
                  <a:cubicBezTo>
                    <a:pt x="4331" y="1720601"/>
                    <a:pt x="0" y="1710145"/>
                    <a:pt x="0" y="1699243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941AFCE5-C8F0-2EB3-75D8-E68D5443282D}"/>
                </a:ext>
              </a:extLst>
            </p:cNvPr>
            <p:cNvSpPr txBox="1"/>
            <p:nvPr/>
          </p:nvSpPr>
          <p:spPr>
            <a:xfrm>
              <a:off x="0" y="-47625"/>
              <a:ext cx="2529707" cy="1787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grpSp>
        <p:nvGrpSpPr>
          <p:cNvPr id="16" name="Group 8">
            <a:extLst>
              <a:ext uri="{FF2B5EF4-FFF2-40B4-BE49-F238E27FC236}">
                <a16:creationId xmlns:a16="http://schemas.microsoft.com/office/drawing/2014/main" id="{603902FE-A84D-6484-C863-F7D3AB758ABF}"/>
              </a:ext>
            </a:extLst>
          </p:cNvPr>
          <p:cNvGrpSpPr/>
          <p:nvPr/>
        </p:nvGrpSpPr>
        <p:grpSpPr>
          <a:xfrm>
            <a:off x="6254362" y="1104403"/>
            <a:ext cx="4475056" cy="2743200"/>
            <a:chOff x="0" y="0"/>
            <a:chExt cx="2529707" cy="1740350"/>
          </a:xfrm>
        </p:grpSpPr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FA792F33-B873-332A-18F1-DFB787E03859}"/>
                </a:ext>
              </a:extLst>
            </p:cNvPr>
            <p:cNvSpPr/>
            <p:nvPr/>
          </p:nvSpPr>
          <p:spPr>
            <a:xfrm>
              <a:off x="0" y="0"/>
              <a:ext cx="2529707" cy="1740350"/>
            </a:xfrm>
            <a:custGeom>
              <a:avLst/>
              <a:gdLst/>
              <a:ahLst/>
              <a:cxnLst/>
              <a:rect l="l" t="t" r="r" b="b"/>
              <a:pathLst>
                <a:path w="2529707" h="1740350">
                  <a:moveTo>
                    <a:pt x="41108" y="0"/>
                  </a:moveTo>
                  <a:lnTo>
                    <a:pt x="2488599" y="0"/>
                  </a:lnTo>
                  <a:cubicBezTo>
                    <a:pt x="2499502" y="0"/>
                    <a:pt x="2509957" y="4331"/>
                    <a:pt x="2517667" y="12040"/>
                  </a:cubicBezTo>
                  <a:cubicBezTo>
                    <a:pt x="2525376" y="19749"/>
                    <a:pt x="2529707" y="30205"/>
                    <a:pt x="2529707" y="41108"/>
                  </a:cubicBezTo>
                  <a:lnTo>
                    <a:pt x="2529707" y="1699243"/>
                  </a:lnTo>
                  <a:cubicBezTo>
                    <a:pt x="2529707" y="1710145"/>
                    <a:pt x="2525376" y="1720601"/>
                    <a:pt x="2517667" y="1728310"/>
                  </a:cubicBezTo>
                  <a:cubicBezTo>
                    <a:pt x="2509957" y="1736019"/>
                    <a:pt x="2499502" y="1740350"/>
                    <a:pt x="2488599" y="1740350"/>
                  </a:cubicBezTo>
                  <a:lnTo>
                    <a:pt x="41108" y="1740350"/>
                  </a:lnTo>
                  <a:cubicBezTo>
                    <a:pt x="30205" y="1740350"/>
                    <a:pt x="19749" y="1736019"/>
                    <a:pt x="12040" y="1728310"/>
                  </a:cubicBezTo>
                  <a:cubicBezTo>
                    <a:pt x="4331" y="1720601"/>
                    <a:pt x="0" y="1710145"/>
                    <a:pt x="0" y="1699243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18" name="TextBox 10">
              <a:extLst>
                <a:ext uri="{FF2B5EF4-FFF2-40B4-BE49-F238E27FC236}">
                  <a16:creationId xmlns:a16="http://schemas.microsoft.com/office/drawing/2014/main" id="{1B02A933-2962-7E51-F0C8-57EF2638EA36}"/>
                </a:ext>
              </a:extLst>
            </p:cNvPr>
            <p:cNvSpPr txBox="1"/>
            <p:nvPr/>
          </p:nvSpPr>
          <p:spPr>
            <a:xfrm>
              <a:off x="0" y="-47625"/>
              <a:ext cx="2529707" cy="1787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grpSp>
        <p:nvGrpSpPr>
          <p:cNvPr id="19" name="Group 8">
            <a:extLst>
              <a:ext uri="{FF2B5EF4-FFF2-40B4-BE49-F238E27FC236}">
                <a16:creationId xmlns:a16="http://schemas.microsoft.com/office/drawing/2014/main" id="{064959A0-DFB7-A990-5D46-E3FB4F851D45}"/>
              </a:ext>
            </a:extLst>
          </p:cNvPr>
          <p:cNvGrpSpPr/>
          <p:nvPr/>
        </p:nvGrpSpPr>
        <p:grpSpPr>
          <a:xfrm>
            <a:off x="3689414" y="4049927"/>
            <a:ext cx="4475056" cy="2743200"/>
            <a:chOff x="0" y="0"/>
            <a:chExt cx="2529707" cy="1740350"/>
          </a:xfrm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A50635F0-C15E-F7E5-6D71-3CE62515D6BD}"/>
                </a:ext>
              </a:extLst>
            </p:cNvPr>
            <p:cNvSpPr/>
            <p:nvPr/>
          </p:nvSpPr>
          <p:spPr>
            <a:xfrm>
              <a:off x="0" y="0"/>
              <a:ext cx="2529707" cy="1740350"/>
            </a:xfrm>
            <a:custGeom>
              <a:avLst/>
              <a:gdLst/>
              <a:ahLst/>
              <a:cxnLst/>
              <a:rect l="l" t="t" r="r" b="b"/>
              <a:pathLst>
                <a:path w="2529707" h="1740350">
                  <a:moveTo>
                    <a:pt x="41108" y="0"/>
                  </a:moveTo>
                  <a:lnTo>
                    <a:pt x="2488599" y="0"/>
                  </a:lnTo>
                  <a:cubicBezTo>
                    <a:pt x="2499502" y="0"/>
                    <a:pt x="2509957" y="4331"/>
                    <a:pt x="2517667" y="12040"/>
                  </a:cubicBezTo>
                  <a:cubicBezTo>
                    <a:pt x="2525376" y="19749"/>
                    <a:pt x="2529707" y="30205"/>
                    <a:pt x="2529707" y="41108"/>
                  </a:cubicBezTo>
                  <a:lnTo>
                    <a:pt x="2529707" y="1699243"/>
                  </a:lnTo>
                  <a:cubicBezTo>
                    <a:pt x="2529707" y="1710145"/>
                    <a:pt x="2525376" y="1720601"/>
                    <a:pt x="2517667" y="1728310"/>
                  </a:cubicBezTo>
                  <a:cubicBezTo>
                    <a:pt x="2509957" y="1736019"/>
                    <a:pt x="2499502" y="1740350"/>
                    <a:pt x="2488599" y="1740350"/>
                  </a:cubicBezTo>
                  <a:lnTo>
                    <a:pt x="41108" y="1740350"/>
                  </a:lnTo>
                  <a:cubicBezTo>
                    <a:pt x="30205" y="1740350"/>
                    <a:pt x="19749" y="1736019"/>
                    <a:pt x="12040" y="1728310"/>
                  </a:cubicBezTo>
                  <a:cubicBezTo>
                    <a:pt x="4331" y="1720601"/>
                    <a:pt x="0" y="1710145"/>
                    <a:pt x="0" y="1699243"/>
                  </a:cubicBezTo>
                  <a:lnTo>
                    <a:pt x="0" y="41108"/>
                  </a:lnTo>
                  <a:cubicBezTo>
                    <a:pt x="0" y="30205"/>
                    <a:pt x="4331" y="19749"/>
                    <a:pt x="12040" y="12040"/>
                  </a:cubicBezTo>
                  <a:cubicBezTo>
                    <a:pt x="19749" y="4331"/>
                    <a:pt x="30205" y="0"/>
                    <a:pt x="41108" y="0"/>
                  </a:cubicBezTo>
                  <a:close/>
                </a:path>
              </a:pathLst>
            </a:custGeom>
            <a:solidFill>
              <a:srgbClr val="21575B"/>
            </a:solidFill>
          </p:spPr>
        </p:sp>
        <p:sp>
          <p:nvSpPr>
            <p:cNvPr id="21" name="TextBox 10">
              <a:extLst>
                <a:ext uri="{FF2B5EF4-FFF2-40B4-BE49-F238E27FC236}">
                  <a16:creationId xmlns:a16="http://schemas.microsoft.com/office/drawing/2014/main" id="{E36D9357-BE05-68EB-70CB-4062939C04DB}"/>
                </a:ext>
              </a:extLst>
            </p:cNvPr>
            <p:cNvSpPr txBox="1"/>
            <p:nvPr/>
          </p:nvSpPr>
          <p:spPr>
            <a:xfrm>
              <a:off x="0" y="-47625"/>
              <a:ext cx="2529707" cy="1787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333"/>
                </a:lnSpc>
              </a:pPr>
              <a:endParaRPr sz="120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D782242B-CB15-D316-678A-D5C4134067B0}"/>
              </a:ext>
            </a:extLst>
          </p:cNvPr>
          <p:cNvSpPr txBox="1"/>
          <p:nvPr/>
        </p:nvSpPr>
        <p:spPr>
          <a:xfrm>
            <a:off x="1671875" y="1104403"/>
            <a:ext cx="4265761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8F0E6"/>
                </a:solidFill>
              </a:rPr>
              <a:t>Technical Feasibility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Python-based data analysis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Pandas &amp; NumPy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Data visualization tools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Interactive dashboard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DE7FC5-E2D8-E3C5-9E9A-8C8EB27EB2FF}"/>
              </a:ext>
            </a:extLst>
          </p:cNvPr>
          <p:cNvSpPr txBox="1"/>
          <p:nvPr/>
        </p:nvSpPr>
        <p:spPr>
          <a:xfrm>
            <a:off x="6429699" y="1312936"/>
            <a:ext cx="4299719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8F0E6"/>
                </a:solidFill>
              </a:rPr>
              <a:t>Economic Feasibility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Open-source tools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Existing computing resources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Low development cost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E61534-90CE-48EC-F300-E116FCBFDDF3}"/>
              </a:ext>
            </a:extLst>
          </p:cNvPr>
          <p:cNvSpPr txBox="1"/>
          <p:nvPr/>
        </p:nvSpPr>
        <p:spPr>
          <a:xfrm>
            <a:off x="3689414" y="3984534"/>
            <a:ext cx="4475055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F8F0E6"/>
                </a:solidFill>
              </a:rPr>
              <a:t>Operational Feasibility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Easy-to-understand visualizations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Centralized business insights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F8F0E6"/>
                </a:solidFill>
              </a:rPr>
              <a:t>Supports data-driven decisions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D98478-6287-6EA5-3CF8-EE3A660C1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95AC4944-ADEC-61C0-CA46-D68BF1DB8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DBE6F-85AD-4395-8C30-089FDE258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305EF2D9-8532-6E22-9539-90B8F3665F11}"/>
              </a:ext>
            </a:extLst>
          </p:cNvPr>
          <p:cNvSpPr txBox="1"/>
          <p:nvPr/>
        </p:nvSpPr>
        <p:spPr>
          <a:xfrm>
            <a:off x="3279386" y="800433"/>
            <a:ext cx="5927123" cy="702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98"/>
              </a:lnSpc>
              <a:spcBef>
                <a:spcPct val="0"/>
              </a:spcBef>
            </a:pPr>
            <a:r>
              <a:rPr lang="en-US" sz="4285" b="1" dirty="0">
                <a:solidFill>
                  <a:srgbClr val="000000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PROJECT PLAN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EC3BA9-F851-987D-1F3D-1DB7C2E43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2" y="0"/>
            <a:ext cx="1596965" cy="80043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Freeform 10">
            <a:extLst>
              <a:ext uri="{FF2B5EF4-FFF2-40B4-BE49-F238E27FC236}">
                <a16:creationId xmlns:a16="http://schemas.microsoft.com/office/drawing/2014/main" id="{753B1B0B-D7C9-9E81-D2F6-BE587AAA4787}"/>
              </a:ext>
            </a:extLst>
          </p:cNvPr>
          <p:cNvSpPr/>
          <p:nvPr/>
        </p:nvSpPr>
        <p:spPr>
          <a:xfrm>
            <a:off x="8325346" y="107701"/>
            <a:ext cx="3575261" cy="2743200"/>
          </a:xfrm>
          <a:custGeom>
            <a:avLst/>
            <a:gdLst/>
            <a:ahLst/>
            <a:cxnLst/>
            <a:rect l="l" t="t" r="r" b="b"/>
            <a:pathLst>
              <a:path w="5362891" h="4114800">
                <a:moveTo>
                  <a:pt x="0" y="0"/>
                </a:moveTo>
                <a:lnTo>
                  <a:pt x="5362891" y="0"/>
                </a:lnTo>
                <a:lnTo>
                  <a:pt x="53628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EFD390-4F3F-E922-5EB9-0796E11ED9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8083"/>
            <a:ext cx="12192000" cy="4064000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65141783-7DEC-178F-324D-3FCE4DA84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8822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23452" y="751561"/>
            <a:ext cx="3575261" cy="2743200"/>
          </a:xfrm>
          <a:custGeom>
            <a:avLst/>
            <a:gdLst/>
            <a:ahLst/>
            <a:cxnLst/>
            <a:rect l="l" t="t" r="r" b="b"/>
            <a:pathLst>
              <a:path w="5362891" h="4114800">
                <a:moveTo>
                  <a:pt x="0" y="0"/>
                </a:moveTo>
                <a:lnTo>
                  <a:pt x="5362891" y="0"/>
                </a:lnTo>
                <a:lnTo>
                  <a:pt x="53628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075263" y="2913085"/>
            <a:ext cx="2219498" cy="2743200"/>
          </a:xfrm>
          <a:custGeom>
            <a:avLst/>
            <a:gdLst/>
            <a:ahLst/>
            <a:cxnLst/>
            <a:rect l="l" t="t" r="r" b="b"/>
            <a:pathLst>
              <a:path w="3329247" h="4114800">
                <a:moveTo>
                  <a:pt x="0" y="0"/>
                </a:moveTo>
                <a:lnTo>
                  <a:pt x="3329247" y="0"/>
                </a:lnTo>
                <a:lnTo>
                  <a:pt x="3329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77774" y="2123162"/>
            <a:ext cx="5636453" cy="274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sz="10368" dirty="0">
                <a:solidFill>
                  <a:srgbClr val="184549"/>
                </a:solidFill>
                <a:latin typeface="Times New Roman" panose="02020603050405020304" pitchFamily="18" charset="0"/>
                <a:ea typeface="Cantora One"/>
                <a:cs typeface="Times New Roman" panose="02020603050405020304" pitchFamily="18" charset="0"/>
                <a:sym typeface="Cantora One"/>
              </a:rPr>
              <a:t>THANK YOU</a:t>
            </a:r>
          </a:p>
        </p:txBody>
      </p:sp>
      <p:sp>
        <p:nvSpPr>
          <p:cNvPr id="6" name="Freeform 6"/>
          <p:cNvSpPr/>
          <p:nvPr/>
        </p:nvSpPr>
        <p:spPr>
          <a:xfrm flipV="1">
            <a:off x="-227243" y="-126690"/>
            <a:ext cx="2873188" cy="2743200"/>
          </a:xfrm>
          <a:custGeom>
            <a:avLst/>
            <a:gdLst/>
            <a:ahLst/>
            <a:cxnLst/>
            <a:rect l="l" t="t" r="r" b="b"/>
            <a:pathLst>
              <a:path w="4309782" h="4114800">
                <a:moveTo>
                  <a:pt x="0" y="4114800"/>
                </a:moveTo>
                <a:lnTo>
                  <a:pt x="4309782" y="4114800"/>
                </a:lnTo>
                <a:lnTo>
                  <a:pt x="4309782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noFill/>
        </p:spPr>
      </p:sp>
      <p:sp>
        <p:nvSpPr>
          <p:cNvPr id="7" name="Freeform 7"/>
          <p:cNvSpPr/>
          <p:nvPr/>
        </p:nvSpPr>
        <p:spPr>
          <a:xfrm flipH="1">
            <a:off x="9527076" y="4064432"/>
            <a:ext cx="3034845" cy="2897543"/>
          </a:xfrm>
          <a:custGeom>
            <a:avLst/>
            <a:gdLst/>
            <a:ahLst/>
            <a:cxnLst/>
            <a:rect l="l" t="t" r="r" b="b"/>
            <a:pathLst>
              <a:path w="4552267" h="4346314">
                <a:moveTo>
                  <a:pt x="4552266" y="0"/>
                </a:moveTo>
                <a:lnTo>
                  <a:pt x="0" y="0"/>
                </a:lnTo>
                <a:lnTo>
                  <a:pt x="0" y="4346314"/>
                </a:lnTo>
                <a:lnTo>
                  <a:pt x="4552266" y="4346314"/>
                </a:lnTo>
                <a:lnTo>
                  <a:pt x="4552266" y="0"/>
                </a:lnTo>
                <a:close/>
              </a:path>
            </a:pathLst>
          </a:custGeom>
          <a:noFill/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A5FBFC-896C-00B0-15B3-FB34553EC3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5035" y="0"/>
            <a:ext cx="1596965" cy="800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665</Words>
  <Application>Microsoft Office PowerPoint</Application>
  <PresentationFormat>Widescreen</PresentationFormat>
  <Paragraphs>153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Calibri Light</vt:lpstr>
      <vt:lpstr>Nunito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Kundana Mani B</cp:lastModifiedBy>
  <cp:revision>35</cp:revision>
  <dcterms:created xsi:type="dcterms:W3CDTF">2026-08-08T06:33:56Z</dcterms:created>
  <dcterms:modified xsi:type="dcterms:W3CDTF">2026-09-11T04:19:55Z</dcterms:modified>
</cp:coreProperties>
</file>